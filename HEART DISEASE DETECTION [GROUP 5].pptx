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70" r:id="rId5"/>
    <p:sldId id="260" r:id="rId6"/>
    <p:sldId id="261" r:id="rId7"/>
    <p:sldId id="262" r:id="rId8"/>
    <p:sldId id="263" r:id="rId9"/>
    <p:sldId id="264" r:id="rId10"/>
    <p:sldId id="265" r:id="rId11"/>
    <p:sldId id="273" r:id="rId12"/>
    <p:sldId id="272" r:id="rId13"/>
    <p:sldId id="271"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jVbKSE3o/eYBIKbAgkcIW7PGNB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cdb4fd196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8cdb4fd196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676400" y="1091661"/>
            <a:ext cx="9144000" cy="3547014"/>
          </a:xfrm>
          <a:prstGeom prst="rect">
            <a:avLst/>
          </a:prstGeom>
          <a:noFill/>
          <a:ln>
            <a:noFill/>
          </a:ln>
        </p:spPr>
        <p:txBody>
          <a:bodyPr spcFirstLastPara="1" wrap="square" lIns="91425" tIns="45700" rIns="91425" bIns="45700" anchor="b" anchorCtr="0">
            <a:noAutofit/>
          </a:bodyPr>
          <a:lstStyle/>
          <a:p>
            <a:pPr marL="0" lvl="0" indent="0" algn="ctr" rtl="0">
              <a:lnSpc>
                <a:spcPct val="200000"/>
              </a:lnSpc>
              <a:spcBef>
                <a:spcPts val="0"/>
              </a:spcBef>
              <a:spcAft>
                <a:spcPts val="0"/>
              </a:spcAft>
              <a:buClr>
                <a:srgbClr val="0C3571"/>
              </a:buClr>
              <a:buSzPts val="2800"/>
              <a:buFont typeface="Anta"/>
              <a:buNone/>
            </a:pP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r>
              <a:rPr lang="en-IN" sz="4400" b="1" dirty="0">
                <a:solidFill>
                  <a:srgbClr val="002060"/>
                </a:solidFill>
                <a:latin typeface="Times New Roman"/>
                <a:ea typeface="Times New Roman"/>
                <a:cs typeface="Times New Roman"/>
                <a:sym typeface="Times New Roman"/>
              </a:rPr>
              <a:t>Capstone Project 1</a:t>
            </a:r>
            <a:br>
              <a:rPr lang="en-IN" sz="4400" b="1" dirty="0">
                <a:solidFill>
                  <a:srgbClr val="002060"/>
                </a:solidFill>
                <a:latin typeface="Times New Roman"/>
                <a:ea typeface="Times New Roman"/>
                <a:cs typeface="Times New Roman"/>
                <a:sym typeface="Times New Roman"/>
              </a:rPr>
            </a:br>
            <a:r>
              <a:rPr lang="en-IN" sz="2800" b="1" dirty="0">
                <a:solidFill>
                  <a:srgbClr val="002060"/>
                </a:solidFill>
                <a:latin typeface="Times New Roman"/>
                <a:ea typeface="Times New Roman"/>
                <a:cs typeface="Times New Roman"/>
                <a:sym typeface="Times New Roman"/>
              </a:rPr>
              <a:t>Heart Disease Detection using classification Algorithm</a:t>
            </a:r>
            <a:endParaRPr sz="2800" b="1" dirty="0">
              <a:solidFill>
                <a:srgbClr val="002060"/>
              </a:solidFill>
              <a:latin typeface="Times New Roman"/>
              <a:ea typeface="Times New Roman"/>
              <a:cs typeface="Times New Roman"/>
              <a:sym typeface="Times New Roman"/>
            </a:endParaRPr>
          </a:p>
          <a:p>
            <a:pPr marL="0" lvl="0" indent="0" algn="ctr" rtl="0">
              <a:lnSpc>
                <a:spcPct val="200000"/>
              </a:lnSpc>
              <a:spcBef>
                <a:spcPts val="0"/>
              </a:spcBef>
              <a:spcAft>
                <a:spcPts val="0"/>
              </a:spcAft>
              <a:buClr>
                <a:srgbClr val="0C3571"/>
              </a:buClr>
              <a:buSzPts val="2800"/>
              <a:buFont typeface="Anta"/>
              <a:buNone/>
            </a:pPr>
            <a:endParaRPr sz="2300" b="1" dirty="0">
              <a:solidFill>
                <a:srgbClr val="002060"/>
              </a:solidFill>
              <a:latin typeface="Arial"/>
              <a:ea typeface="Arial"/>
              <a:cs typeface="Arial"/>
              <a:sym typeface="Arial"/>
            </a:endParaRPr>
          </a:p>
          <a:p>
            <a:pPr marL="0" lvl="0" indent="0" algn="ctr" rtl="0">
              <a:lnSpc>
                <a:spcPct val="200000"/>
              </a:lnSpc>
              <a:spcBef>
                <a:spcPts val="0"/>
              </a:spcBef>
              <a:spcAft>
                <a:spcPts val="0"/>
              </a:spcAft>
              <a:buClr>
                <a:srgbClr val="0C3571"/>
              </a:buClr>
              <a:buSzPts val="2800"/>
              <a:buFont typeface="Anta"/>
              <a:buNone/>
            </a:pPr>
            <a:br>
              <a:rPr lang="en-IN" sz="1400" b="1" dirty="0">
                <a:solidFill>
                  <a:srgbClr val="2F5496"/>
                </a:solidFill>
                <a:latin typeface="Times New Roman"/>
                <a:ea typeface="Times New Roman"/>
                <a:cs typeface="Times New Roman"/>
                <a:sym typeface="Times New Roman"/>
              </a:rPr>
            </a:br>
            <a:endParaRPr sz="1400" dirty="0">
              <a:solidFill>
                <a:srgbClr val="2F5496"/>
              </a:solidFill>
              <a:latin typeface="Times New Roman"/>
              <a:ea typeface="Times New Roman"/>
              <a:cs typeface="Times New Roman"/>
              <a:sym typeface="Times New Roman"/>
            </a:endParaRPr>
          </a:p>
        </p:txBody>
      </p:sp>
      <p:sp>
        <p:nvSpPr>
          <p:cNvPr id="85" name="Google Shape;85;p1"/>
          <p:cNvSpPr txBox="1"/>
          <p:nvPr/>
        </p:nvSpPr>
        <p:spPr>
          <a:xfrm>
            <a:off x="7522028" y="4225385"/>
            <a:ext cx="4125600" cy="273917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0" i="0" u="none" strike="noStrike" cap="none" dirty="0">
                <a:solidFill>
                  <a:schemeClr val="tx1"/>
                </a:solidFill>
                <a:latin typeface="Times New Roman"/>
                <a:ea typeface="Times New Roman"/>
                <a:cs typeface="Times New Roman"/>
                <a:sym typeface="Times New Roman"/>
              </a:rPr>
              <a:t>Team Members</a:t>
            </a:r>
            <a:endParaRPr dirty="0">
              <a:solidFill>
                <a:schemeClr val="tx1"/>
              </a:solidFill>
            </a:endParaRPr>
          </a:p>
          <a:p>
            <a:pPr marL="0" marR="0" lvl="0" indent="0" algn="l" rtl="0">
              <a:spcBef>
                <a:spcPts val="0"/>
              </a:spcBef>
              <a:spcAft>
                <a:spcPts val="0"/>
              </a:spcAft>
              <a:buNone/>
            </a:pPr>
            <a:r>
              <a:rPr lang="en-IN" sz="1800" dirty="0">
                <a:solidFill>
                  <a:schemeClr val="tx1"/>
                </a:solidFill>
                <a:latin typeface="Times New Roman"/>
                <a:ea typeface="Times New Roman"/>
                <a:cs typeface="Times New Roman"/>
                <a:sym typeface="Times New Roman"/>
              </a:rPr>
              <a:t>T160500117:- Yash </a:t>
            </a:r>
            <a:r>
              <a:rPr lang="en-IN" sz="1800" dirty="0" err="1">
                <a:solidFill>
                  <a:schemeClr val="tx1"/>
                </a:solidFill>
                <a:latin typeface="Times New Roman"/>
                <a:ea typeface="Times New Roman"/>
                <a:cs typeface="Times New Roman"/>
                <a:sym typeface="Times New Roman"/>
              </a:rPr>
              <a:t>Harne</a:t>
            </a:r>
            <a:endParaRPr lang="en-IN" sz="18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chemeClr val="tx1"/>
                </a:solidFill>
                <a:latin typeface="Times New Roman"/>
                <a:ea typeface="Times New Roman"/>
                <a:cs typeface="Times New Roman"/>
                <a:sym typeface="Times New Roman"/>
              </a:rPr>
              <a:t>T160500138: </a:t>
            </a:r>
            <a:r>
              <a:rPr lang="en-IN" sz="1800" dirty="0" err="1">
                <a:solidFill>
                  <a:schemeClr val="tx1"/>
                </a:solidFill>
                <a:latin typeface="Times New Roman"/>
                <a:ea typeface="Times New Roman"/>
                <a:cs typeface="Times New Roman"/>
                <a:sym typeface="Times New Roman"/>
              </a:rPr>
              <a:t>Sumedh</a:t>
            </a:r>
            <a:r>
              <a:rPr lang="en-IN" sz="1800" dirty="0">
                <a:solidFill>
                  <a:schemeClr val="tx1"/>
                </a:solidFill>
                <a:latin typeface="Times New Roman"/>
                <a:ea typeface="Times New Roman"/>
                <a:cs typeface="Times New Roman"/>
                <a:sym typeface="Times New Roman"/>
              </a:rPr>
              <a:t> </a:t>
            </a:r>
            <a:r>
              <a:rPr lang="en-IN" sz="1800" dirty="0" err="1">
                <a:solidFill>
                  <a:schemeClr val="tx1"/>
                </a:solidFill>
                <a:latin typeface="Times New Roman"/>
                <a:ea typeface="Times New Roman"/>
                <a:cs typeface="Times New Roman"/>
                <a:sym typeface="Times New Roman"/>
              </a:rPr>
              <a:t>Wahurwagh</a:t>
            </a:r>
            <a:r>
              <a:rPr lang="en-IN" sz="1800" dirty="0">
                <a:solidFill>
                  <a:schemeClr val="tx1"/>
                </a:solidFill>
                <a:latin typeface="Times New Roman"/>
                <a:ea typeface="Times New Roman"/>
                <a:cs typeface="Times New Roman"/>
                <a:sym typeface="Times New Roman"/>
              </a:rPr>
              <a:t> </a:t>
            </a:r>
            <a:endParaRPr sz="18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chemeClr val="tx1"/>
                </a:solidFill>
                <a:latin typeface="Times New Roman"/>
                <a:ea typeface="Times New Roman"/>
                <a:cs typeface="Times New Roman"/>
                <a:sym typeface="Times New Roman"/>
              </a:rPr>
              <a:t>T160500122:- </a:t>
            </a:r>
            <a:r>
              <a:rPr lang="en-IN" sz="1800" dirty="0" err="1">
                <a:solidFill>
                  <a:schemeClr val="tx1"/>
                </a:solidFill>
                <a:latin typeface="Times New Roman"/>
                <a:ea typeface="Times New Roman"/>
                <a:cs typeface="Times New Roman"/>
                <a:sym typeface="Times New Roman"/>
              </a:rPr>
              <a:t>Mohd</a:t>
            </a:r>
            <a:r>
              <a:rPr lang="en-IN" sz="1800" dirty="0">
                <a:solidFill>
                  <a:schemeClr val="tx1"/>
                </a:solidFill>
                <a:latin typeface="Times New Roman"/>
                <a:ea typeface="Times New Roman"/>
                <a:cs typeface="Times New Roman"/>
                <a:sym typeface="Times New Roman"/>
              </a:rPr>
              <a:t> </a:t>
            </a:r>
            <a:r>
              <a:rPr lang="en-IN" sz="1800" dirty="0" err="1">
                <a:solidFill>
                  <a:schemeClr val="tx1"/>
                </a:solidFill>
                <a:latin typeface="Times New Roman"/>
                <a:ea typeface="Times New Roman"/>
                <a:cs typeface="Times New Roman"/>
                <a:sym typeface="Times New Roman"/>
              </a:rPr>
              <a:t>Shirjil</a:t>
            </a:r>
            <a:r>
              <a:rPr lang="en-IN" sz="1800" dirty="0">
                <a:solidFill>
                  <a:schemeClr val="tx1"/>
                </a:solidFill>
                <a:latin typeface="Times New Roman"/>
                <a:ea typeface="Times New Roman"/>
                <a:cs typeface="Times New Roman"/>
                <a:sym typeface="Times New Roman"/>
              </a:rPr>
              <a:t> Kamran</a:t>
            </a:r>
            <a:endParaRPr sz="18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chemeClr val="tx1"/>
                </a:solidFill>
                <a:latin typeface="Times New Roman"/>
                <a:ea typeface="Times New Roman"/>
                <a:cs typeface="Times New Roman"/>
                <a:sym typeface="Times New Roman"/>
              </a:rPr>
              <a:t>T160500130:Rutuja </a:t>
            </a:r>
            <a:r>
              <a:rPr lang="en-IN" sz="1800" dirty="0" err="1">
                <a:solidFill>
                  <a:schemeClr val="tx1"/>
                </a:solidFill>
                <a:latin typeface="Times New Roman"/>
                <a:ea typeface="Times New Roman"/>
                <a:cs typeface="Times New Roman"/>
                <a:sym typeface="Times New Roman"/>
              </a:rPr>
              <a:t>Kharode</a:t>
            </a:r>
            <a:endParaRPr lang="en-IN" dirty="0">
              <a:solidFill>
                <a:schemeClr val="tx1"/>
              </a:solidFill>
              <a:ea typeface="Times New Roman"/>
            </a:endParaRPr>
          </a:p>
          <a:p>
            <a:pPr marL="0" marR="0" lvl="0" indent="0" algn="l" rtl="0">
              <a:spcBef>
                <a:spcPts val="0"/>
              </a:spcBef>
              <a:spcAft>
                <a:spcPts val="0"/>
              </a:spcAft>
              <a:buNone/>
            </a:pPr>
            <a:r>
              <a:rPr lang="en-IN" sz="1800" dirty="0">
                <a:solidFill>
                  <a:schemeClr val="tx1"/>
                </a:solidFill>
                <a:latin typeface="Times New Roman"/>
                <a:ea typeface="Times New Roman"/>
                <a:cs typeface="Times New Roman"/>
                <a:sym typeface="Times New Roman"/>
              </a:rPr>
              <a:t>T160500106:- Shivani </a:t>
            </a:r>
            <a:r>
              <a:rPr lang="en-IN" sz="1800" dirty="0" err="1">
                <a:solidFill>
                  <a:schemeClr val="tx1"/>
                </a:solidFill>
                <a:latin typeface="Times New Roman"/>
                <a:ea typeface="Times New Roman"/>
                <a:cs typeface="Times New Roman"/>
                <a:sym typeface="Times New Roman"/>
              </a:rPr>
              <a:t>Bhusare</a:t>
            </a:r>
            <a:endParaRPr sz="18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chemeClr val="tx1"/>
                </a:solidFill>
                <a:latin typeface="Times New Roman"/>
                <a:ea typeface="Times New Roman"/>
                <a:cs typeface="Times New Roman"/>
                <a:sym typeface="Times New Roman"/>
              </a:rPr>
              <a:t>T160500134:-Samiksha </a:t>
            </a:r>
            <a:r>
              <a:rPr lang="en-IN" sz="1800" dirty="0" err="1">
                <a:solidFill>
                  <a:schemeClr val="tx1"/>
                </a:solidFill>
                <a:latin typeface="Times New Roman"/>
                <a:ea typeface="Times New Roman"/>
                <a:cs typeface="Times New Roman"/>
                <a:sym typeface="Times New Roman"/>
              </a:rPr>
              <a:t>khandare</a:t>
            </a:r>
            <a:endParaRPr lang="en-IN" sz="18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tx1"/>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p:txBody>
      </p:sp>
      <p:sp>
        <p:nvSpPr>
          <p:cNvPr id="87" name="Google Shape;87;p1"/>
          <p:cNvSpPr txBox="1"/>
          <p:nvPr/>
        </p:nvSpPr>
        <p:spPr>
          <a:xfrm>
            <a:off x="0" y="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rgbClr val="2F5496"/>
              </a:solidFill>
              <a:latin typeface="Times New Roman"/>
              <a:ea typeface="Times New Roman"/>
              <a:cs typeface="Times New Roman"/>
              <a:sym typeface="Times New Roman"/>
            </a:endParaRPr>
          </a:p>
        </p:txBody>
      </p:sp>
      <p:pic>
        <p:nvPicPr>
          <p:cNvPr id="6" name="Google Shape;93;p2">
            <a:extLst>
              <a:ext uri="{FF2B5EF4-FFF2-40B4-BE49-F238E27FC236}">
                <a16:creationId xmlns:a16="http://schemas.microsoft.com/office/drawing/2014/main" id="{9CC68EB1-4DC0-4D1F-9339-E108E0BA93CF}"/>
              </a:ext>
            </a:extLst>
          </p:cNvPr>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p:nvPr/>
        </p:nvSpPr>
        <p:spPr>
          <a:xfrm>
            <a:off x="925286" y="566057"/>
            <a:ext cx="10417500" cy="51398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dirty="0">
                <a:solidFill>
                  <a:srgbClr val="002060"/>
                </a:solidFill>
                <a:latin typeface="Times New Roman"/>
                <a:ea typeface="Times New Roman"/>
                <a:cs typeface="Times New Roman"/>
                <a:sym typeface="Times New Roman"/>
              </a:rPr>
              <a:t>Table of Contents</a:t>
            </a:r>
            <a:endParaRPr dirty="0">
              <a:solidFill>
                <a:srgbClr val="002060"/>
              </a:solidFill>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Problem Statement</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Overview of the Project</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Data generation &amp; Loading</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Data Exploration &amp; Understanding</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Exploratory Data Analysis</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Data </a:t>
            </a:r>
            <a:r>
              <a:rPr lang="en-IN" sz="2800" dirty="0" err="1">
                <a:solidFill>
                  <a:schemeClr val="tx1"/>
                </a:solidFill>
                <a:latin typeface="Times New Roman"/>
                <a:ea typeface="Times New Roman"/>
                <a:cs typeface="Times New Roman"/>
                <a:sym typeface="Times New Roman"/>
              </a:rPr>
              <a:t>Preprocessing</a:t>
            </a:r>
            <a:r>
              <a:rPr lang="en-IN" sz="2800" dirty="0">
                <a:solidFill>
                  <a:schemeClr val="tx1"/>
                </a:solidFill>
                <a:latin typeface="Times New Roman"/>
                <a:ea typeface="Times New Roman"/>
                <a:cs typeface="Times New Roman"/>
                <a:sym typeface="Times New Roman"/>
              </a:rPr>
              <a:t> &amp; Feature Engineering</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Model Building &amp; Training</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Model Evaluation &amp; Performance Analysis</a:t>
            </a:r>
            <a:endParaRPr dirty="0">
              <a:solidFill>
                <a:schemeClr val="tx1"/>
              </a:solidFill>
            </a:endParaRPr>
          </a:p>
          <a:p>
            <a:pPr marL="285750" marR="0" lvl="0" indent="-285750" algn="l" rtl="0">
              <a:spcBef>
                <a:spcPts val="0"/>
              </a:spcBef>
              <a:spcAft>
                <a:spcPts val="0"/>
              </a:spcAft>
              <a:buClr>
                <a:srgbClr val="2F5496"/>
              </a:buClr>
              <a:buSzPts val="2800"/>
              <a:buFont typeface="Arial"/>
              <a:buChar char="•"/>
            </a:pPr>
            <a:r>
              <a:rPr lang="en-IN" sz="2800" dirty="0">
                <a:solidFill>
                  <a:schemeClr val="tx1"/>
                </a:solidFill>
                <a:latin typeface="Times New Roman"/>
                <a:ea typeface="Times New Roman"/>
                <a:cs typeface="Times New Roman"/>
                <a:sym typeface="Times New Roman"/>
              </a:rPr>
              <a:t>Conclusion</a:t>
            </a:r>
            <a:endParaRPr dirty="0">
              <a:solidFill>
                <a:schemeClr val="tx1"/>
              </a:solidFill>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93" name="Google Shape;93;p2"/>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604285" y="304800"/>
            <a:ext cx="10417500" cy="64817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b="1" dirty="0">
                <a:solidFill>
                  <a:srgbClr val="002060"/>
                </a:solidFill>
                <a:latin typeface="Times New Roman"/>
                <a:ea typeface="Times New Roman"/>
                <a:cs typeface="Times New Roman"/>
                <a:sym typeface="Times New Roman"/>
              </a:rPr>
              <a:t>Problem Statement</a:t>
            </a:r>
            <a:endParaRPr sz="2800" b="1" dirty="0">
              <a:solidFill>
                <a:srgbClr val="002060"/>
              </a:solidFill>
              <a:latin typeface="Times New Roman"/>
              <a:ea typeface="Times New Roman"/>
              <a:cs typeface="Times New Roman"/>
              <a:sym typeface="Times New Roman"/>
            </a:endParaRPr>
          </a:p>
          <a:p>
            <a:pPr lvl="0" algn="just" rtl="0">
              <a:lnSpc>
                <a:spcPct val="100000"/>
              </a:lnSpc>
              <a:spcBef>
                <a:spcPts val="0"/>
              </a:spcBef>
              <a:spcAft>
                <a:spcPts val="0"/>
              </a:spcAft>
              <a:buClr>
                <a:schemeClr val="dk1"/>
              </a:buClr>
              <a:buSzPts val="1100"/>
            </a:pPr>
            <a:r>
              <a:rPr lang="en-US" sz="2800" b="1" dirty="0">
                <a:solidFill>
                  <a:srgbClr val="002060"/>
                </a:solidFill>
                <a:latin typeface="Times New Roman"/>
                <a:cs typeface="Times New Roman"/>
                <a:sym typeface="Times New Roman"/>
              </a:rPr>
              <a:t> </a:t>
            </a:r>
          </a:p>
          <a:p>
            <a:pPr marL="342900" lvl="0" indent="-342900" algn="just" rtl="0">
              <a:lnSpc>
                <a:spcPct val="100000"/>
              </a:lnSpc>
              <a:spcBef>
                <a:spcPts val="0"/>
              </a:spcBef>
              <a:spcAft>
                <a:spcPts val="0"/>
              </a:spcAft>
              <a:buClr>
                <a:schemeClr val="dk1"/>
              </a:buClr>
              <a:buSzPts val="1100"/>
              <a:buFont typeface="Wingdings" panose="05000000000000000000" pitchFamily="2" charset="2"/>
              <a:buChar char="v"/>
            </a:pPr>
            <a:r>
              <a:rPr lang="en-US" sz="2400" dirty="0"/>
              <a:t> Heart disease is one of the leading causes of death worldwide. Early and accurate detection through diagnostic screening can significantly improve patient survival rates and reduce healthcare costs.</a:t>
            </a:r>
          </a:p>
          <a:p>
            <a:pPr marL="0" lvl="0" indent="0" algn="just" rtl="0">
              <a:lnSpc>
                <a:spcPct val="100000"/>
              </a:lnSpc>
              <a:spcBef>
                <a:spcPts val="0"/>
              </a:spcBef>
              <a:spcAft>
                <a:spcPts val="0"/>
              </a:spcAft>
              <a:buClr>
                <a:schemeClr val="dk1"/>
              </a:buClr>
              <a:buSzPts val="1100"/>
              <a:buFont typeface="Arial"/>
              <a:buNone/>
            </a:pPr>
            <a:endParaRPr lang="en-US" sz="2400" dirty="0"/>
          </a:p>
          <a:p>
            <a:pPr marL="342900" lvl="0" indent="-342900" algn="just" rtl="0">
              <a:lnSpc>
                <a:spcPct val="100000"/>
              </a:lnSpc>
              <a:spcBef>
                <a:spcPts val="0"/>
              </a:spcBef>
              <a:spcAft>
                <a:spcPts val="0"/>
              </a:spcAft>
              <a:buClr>
                <a:schemeClr val="dk1"/>
              </a:buClr>
              <a:buSzPts val="1100"/>
              <a:buFont typeface="Wingdings" panose="05000000000000000000" pitchFamily="2" charset="2"/>
              <a:buChar char="v"/>
            </a:pPr>
            <a:r>
              <a:rPr lang="en-US" sz="2400" dirty="0"/>
              <a:t> This project aims to build machine learning models that predict the presence of heart disease based on patients’ demographic, clinical, and diagnostic test data, enabling healthcare professionals to make timely and informed decisions. </a:t>
            </a:r>
            <a:r>
              <a:rPr lang="en-IN" sz="2400" dirty="0">
                <a:solidFill>
                  <a:srgbClr val="0C3571"/>
                </a:solidFill>
                <a:latin typeface="Times New Roman"/>
                <a:ea typeface="Times New Roman"/>
                <a:cs typeface="Times New Roman"/>
                <a:sym typeface="Times New Roman"/>
              </a:rPr>
              <a:t>.</a:t>
            </a:r>
            <a:endParaRPr sz="2400" dirty="0">
              <a:solidFill>
                <a:srgbClr val="0C357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100"/>
              <a:buNone/>
            </a:pPr>
            <a:endParaRPr sz="2400" dirty="0">
              <a:solidFill>
                <a:srgbClr val="2F5496"/>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400" dirty="0">
              <a:solidFill>
                <a:srgbClr val="2F5496"/>
              </a:solidFill>
              <a:latin typeface="Times New Roman"/>
              <a:ea typeface="Times New Roman"/>
              <a:cs typeface="Times New Roman"/>
              <a:sym typeface="Times New Roman"/>
            </a:endParaRPr>
          </a:p>
          <a:p>
            <a:pPr marL="0" marR="0" lvl="0" indent="0" algn="l" rtl="0">
              <a:spcBef>
                <a:spcPts val="1200"/>
              </a:spcBef>
              <a:spcAft>
                <a:spcPts val="0"/>
              </a:spcAft>
              <a:buNone/>
            </a:pPr>
            <a:r>
              <a:rPr lang="en-US" sz="4000" dirty="0">
                <a:solidFill>
                  <a:srgbClr val="2F5496"/>
                </a:solidFill>
                <a:latin typeface="Times New Roman"/>
                <a:ea typeface="Times New Roman"/>
                <a:cs typeface="Times New Roman"/>
                <a:sym typeface="Times New Roman"/>
              </a:rPr>
              <a:t>                            </a:t>
            </a:r>
            <a:endParaRPr sz="40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p:txBody>
      </p:sp>
      <p:pic>
        <p:nvPicPr>
          <p:cNvPr id="99" name="Google Shape;99;p3"/>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2" name="Rectangle 1">
            <a:extLst>
              <a:ext uri="{FF2B5EF4-FFF2-40B4-BE49-F238E27FC236}">
                <a16:creationId xmlns:a16="http://schemas.microsoft.com/office/drawing/2014/main" id="{6B208C20-E832-47CC-812A-F9923AAF5724}"/>
              </a:ext>
            </a:extLst>
          </p:cNvPr>
          <p:cNvSpPr>
            <a:spLocks noChangeArrowheads="1"/>
          </p:cNvSpPr>
          <p:nvPr/>
        </p:nvSpPr>
        <p:spPr bwMode="auto">
          <a:xfrm>
            <a:off x="0" y="-184667"/>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86438-8E85-4067-9BBD-98AF21792B67}"/>
              </a:ext>
            </a:extLst>
          </p:cNvPr>
          <p:cNvSpPr>
            <a:spLocks noGrp="1"/>
          </p:cNvSpPr>
          <p:nvPr>
            <p:ph type="title"/>
          </p:nvPr>
        </p:nvSpPr>
        <p:spPr/>
        <p:txBody>
          <a:bodyPr/>
          <a:lstStyle/>
          <a:p>
            <a:r>
              <a:rPr lang="en-US" dirty="0">
                <a:solidFill>
                  <a:srgbClr val="002060"/>
                </a:solidFill>
              </a:rPr>
              <a:t>Overview of the project</a:t>
            </a:r>
          </a:p>
        </p:txBody>
      </p:sp>
      <p:sp>
        <p:nvSpPr>
          <p:cNvPr id="4" name="Rectangle 1">
            <a:extLst>
              <a:ext uri="{FF2B5EF4-FFF2-40B4-BE49-F238E27FC236}">
                <a16:creationId xmlns:a16="http://schemas.microsoft.com/office/drawing/2014/main" id="{402C388F-DB9B-4EF5-B8C4-7DFE412D2679}"/>
              </a:ext>
            </a:extLst>
          </p:cNvPr>
          <p:cNvSpPr>
            <a:spLocks noGrp="1" noChangeArrowheads="1"/>
          </p:cNvSpPr>
          <p:nvPr>
            <p:ph type="body" idx="1"/>
          </p:nvPr>
        </p:nvSpPr>
        <p:spPr bwMode="auto">
          <a:xfrm>
            <a:off x="838201" y="1517025"/>
            <a:ext cx="11059159" cy="4968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v"/>
            </a:pPr>
            <a:r>
              <a:rPr lang="en-US" sz="2000" dirty="0"/>
              <a:t>This project predicts whether a person is at risk of heart disease using machine learning classification</a:t>
            </a:r>
          </a:p>
          <a:p>
            <a:pPr marL="114300" indent="0">
              <a:buNone/>
            </a:pPr>
            <a:r>
              <a:rPr lang="en-US" sz="2000" dirty="0"/>
              <a:t>       algorithms based on medical parameters such as age, blood pressure, cholesterol, heart rate, chest</a:t>
            </a:r>
          </a:p>
          <a:p>
            <a:pPr marL="114300" indent="0">
              <a:buNone/>
            </a:pPr>
            <a:r>
              <a:rPr lang="en-US" sz="2000" dirty="0"/>
              <a:t>       pain type, and other health indicators. </a:t>
            </a:r>
          </a:p>
          <a:p>
            <a:pPr>
              <a:buFont typeface="Wingdings" panose="05000000000000000000" pitchFamily="2" charset="2"/>
              <a:buChar char="v"/>
            </a:pPr>
            <a:r>
              <a:rPr lang="en-US" sz="2000" dirty="0"/>
              <a:t>The dataset contains both numerical and categorical features, with preprocessing steps including handling missing values, encoding categorical variables, and feature scaling. </a:t>
            </a:r>
          </a:p>
          <a:p>
            <a:pPr>
              <a:buFont typeface="Wingdings" panose="05000000000000000000" pitchFamily="2" charset="2"/>
              <a:buChar char="v"/>
            </a:pPr>
            <a:r>
              <a:rPr lang="en-US" sz="2000" dirty="0"/>
              <a:t>A complete ML pipeline is built, including data preprocessing, feature encoding, feature scaling, train-test split, and training classification models such as Logistic Regression, Decision Tree, Random Forest, and Support Vector Machine (SVM). </a:t>
            </a:r>
          </a:p>
          <a:p>
            <a:pPr>
              <a:buFont typeface="Wingdings" panose="05000000000000000000" pitchFamily="2" charset="2"/>
              <a:buChar char="v"/>
            </a:pPr>
            <a:r>
              <a:rPr lang="en-US" sz="2000" dirty="0"/>
              <a:t>Model performance is evaluated using metrics such as Accuracy, Precision, Recall, F1-Score, and Confusion Matrix, with the best-performing model selected for prediction. </a:t>
            </a:r>
          </a:p>
          <a:p>
            <a:pPr>
              <a:buFont typeface="Wingdings" panose="05000000000000000000" pitchFamily="2" charset="2"/>
              <a:buChar char="v"/>
            </a:pPr>
            <a:r>
              <a:rPr lang="en-US" sz="2000" dirty="0"/>
              <a:t>The solution helps in the early detection of heart disease, enabling timely medical intervention, improving patient care, and supporting healthcare professionals in decision-making. </a:t>
            </a:r>
          </a:p>
          <a:p>
            <a:pPr marL="114300" indent="0">
              <a:buNone/>
            </a:pPr>
            <a:endParaRPr lang="en-US" sz="1800" dirty="0"/>
          </a:p>
        </p:txBody>
      </p:sp>
      <p:pic>
        <p:nvPicPr>
          <p:cNvPr id="5" name="Google Shape;118;p6">
            <a:extLst>
              <a:ext uri="{FF2B5EF4-FFF2-40B4-BE49-F238E27FC236}">
                <a16:creationId xmlns:a16="http://schemas.microsoft.com/office/drawing/2014/main" id="{633D7B04-DB25-4E02-A728-3DAA9E39972D}"/>
              </a:ext>
            </a:extLst>
          </p:cNvPr>
          <p:cNvPicPr preferRelativeResize="0"/>
          <p:nvPr/>
        </p:nvPicPr>
        <p:blipFill rotWithShape="1">
          <a:blip r:embed="rId2">
            <a:alphaModFix/>
          </a:blip>
          <a:srcRect/>
          <a:stretch/>
        </p:blipFill>
        <p:spPr>
          <a:xfrm>
            <a:off x="10232571" y="304800"/>
            <a:ext cx="1578429" cy="1055914"/>
          </a:xfrm>
          <a:prstGeom prst="rect">
            <a:avLst/>
          </a:prstGeom>
          <a:noFill/>
          <a:ln>
            <a:noFill/>
          </a:ln>
        </p:spPr>
      </p:pic>
    </p:spTree>
    <p:extLst>
      <p:ext uri="{BB962C8B-B14F-4D97-AF65-F5344CB8AC3E}">
        <p14:creationId xmlns:p14="http://schemas.microsoft.com/office/powerpoint/2010/main" val="1959363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p:nvPr/>
        </p:nvSpPr>
        <p:spPr>
          <a:xfrm>
            <a:off x="604285" y="304800"/>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002060"/>
                </a:solidFill>
                <a:latin typeface="Times New Roman"/>
                <a:ea typeface="Times New Roman"/>
                <a:cs typeface="Times New Roman"/>
                <a:sym typeface="Times New Roman"/>
              </a:rPr>
              <a:t>Data generation &amp; Loading</a:t>
            </a:r>
            <a:endParaRPr dirty="0">
              <a:solidFill>
                <a:srgbClr val="002060"/>
              </a:solidFill>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11" name="Google Shape;111;p5"/>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2" name="Google Shape;112;p5"/>
          <p:cNvSpPr txBox="1"/>
          <p:nvPr/>
        </p:nvSpPr>
        <p:spPr>
          <a:xfrm>
            <a:off x="455025" y="1676400"/>
            <a:ext cx="10811700" cy="4876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342900" indent="-342900">
              <a:buFont typeface="Wingdings" panose="05000000000000000000" pitchFamily="2" charset="2"/>
              <a:buChar char="v"/>
            </a:pPr>
            <a:r>
              <a:rPr lang="en-US" sz="2000" b="1" dirty="0"/>
              <a:t>Dataset Source: </a:t>
            </a:r>
            <a:r>
              <a:rPr lang="en-US" sz="2000" dirty="0"/>
              <a:t> </a:t>
            </a:r>
            <a:r>
              <a:rPr lang="en-US" sz="1800" dirty="0"/>
              <a:t>Kaggle Heart Disease Dataset (UCI Machine Learning Repository)</a:t>
            </a:r>
            <a:r>
              <a:rPr lang="en-US" sz="2000" dirty="0"/>
              <a:t>  </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Dataset Size: </a:t>
            </a:r>
            <a:r>
              <a:rPr lang="en-US" sz="2000" dirty="0"/>
              <a:t> </a:t>
            </a:r>
            <a:r>
              <a:rPr lang="en-US" sz="1800" dirty="0"/>
              <a:t>918 patient records (or write the actual number from your dataset) </a:t>
            </a:r>
          </a:p>
          <a:p>
            <a:pPr marL="342900" indent="-342900">
              <a:buFont typeface="Wingdings" panose="05000000000000000000" pitchFamily="2" charset="2"/>
              <a:buChar char="v"/>
            </a:pPr>
            <a:endParaRPr lang="en-US" sz="1800" dirty="0"/>
          </a:p>
          <a:p>
            <a:pPr marL="342900" indent="-342900">
              <a:buFont typeface="Wingdings" panose="05000000000000000000" pitchFamily="2" charset="2"/>
              <a:buChar char="v"/>
            </a:pPr>
            <a:r>
              <a:rPr lang="en-US" sz="2000" b="1" dirty="0"/>
              <a:t>Target Variable:</a:t>
            </a:r>
            <a:r>
              <a:rPr lang="en-US" sz="2000" dirty="0"/>
              <a:t> </a:t>
            </a:r>
            <a:r>
              <a:rPr lang="en-US" sz="1800" dirty="0"/>
              <a:t>Heart Disease (0 = No Disease, 1 = Heart Disease) </a:t>
            </a:r>
          </a:p>
          <a:p>
            <a:pPr marL="342900" indent="-342900">
              <a:buFont typeface="Wingdings" panose="05000000000000000000" pitchFamily="2" charset="2"/>
              <a:buChar char="v"/>
            </a:pPr>
            <a:endParaRPr lang="en-US" sz="1800" dirty="0"/>
          </a:p>
          <a:p>
            <a:pPr marL="342900" indent="-342900">
              <a:buFont typeface="Wingdings" panose="05000000000000000000" pitchFamily="2" charset="2"/>
              <a:buChar char="v"/>
            </a:pPr>
            <a:r>
              <a:rPr lang="en-US" sz="2000" b="1" dirty="0"/>
              <a:t>Features Include:</a:t>
            </a:r>
            <a:r>
              <a:rPr lang="en-US" sz="2000" dirty="0"/>
              <a:t> </a:t>
            </a:r>
          </a:p>
          <a:p>
            <a:pPr marL="742950" lvl="1" indent="-285750">
              <a:buFont typeface="Arial" panose="020B0604020202020204" pitchFamily="34" charset="0"/>
              <a:buChar char="•"/>
            </a:pPr>
            <a:r>
              <a:rPr lang="en-US" sz="1800" dirty="0"/>
              <a:t>Demographic details (Age, Sex) </a:t>
            </a:r>
          </a:p>
          <a:p>
            <a:pPr marL="742950" lvl="1" indent="-285750">
              <a:buFont typeface="Arial" panose="020B0604020202020204" pitchFamily="34" charset="0"/>
              <a:buChar char="•"/>
            </a:pPr>
            <a:r>
              <a:rPr lang="en-US" sz="1800" dirty="0"/>
              <a:t>Clinical measurements (Resting Blood Pressure, Cholesterol, Fasting Blood Sugar) </a:t>
            </a:r>
          </a:p>
          <a:p>
            <a:pPr marL="742950" lvl="1" indent="-285750">
              <a:buFont typeface="Arial" panose="020B0604020202020204" pitchFamily="34" charset="0"/>
              <a:buChar char="•"/>
            </a:pPr>
            <a:r>
              <a:rPr lang="en-US" sz="1800" dirty="0"/>
              <a:t>Cardiac test results (Resting ECG, Maximum Heart Rate, ST Slope) </a:t>
            </a:r>
          </a:p>
          <a:p>
            <a:pPr marL="742950" lvl="1" indent="-285750">
              <a:buFont typeface="Arial" panose="020B0604020202020204" pitchFamily="34" charset="0"/>
              <a:buChar char="•"/>
            </a:pPr>
            <a:r>
              <a:rPr lang="en-US" sz="1800" dirty="0"/>
              <a:t>Medical symptoms (Chest Pain Type, Exercise-Induced Angina, </a:t>
            </a:r>
            <a:r>
              <a:rPr lang="en-US" sz="1800" dirty="0" err="1"/>
              <a:t>Oldpeak</a:t>
            </a:r>
            <a:r>
              <a:rPr lang="en-US" sz="1800" dirty="0"/>
              <a:t>) </a:t>
            </a:r>
          </a:p>
          <a:p>
            <a:pPr marL="742950" lvl="1" indent="-285750">
              <a:buFont typeface="Arial" panose="020B0604020202020204" pitchFamily="34" charset="0"/>
              <a:buChar char="•"/>
            </a:pPr>
            <a:endParaRPr lang="en-US" sz="1800" dirty="0"/>
          </a:p>
          <a:p>
            <a:pPr marL="342900" indent="-342900">
              <a:buFont typeface="Wingdings" panose="05000000000000000000" pitchFamily="2" charset="2"/>
              <a:buChar char="v"/>
            </a:pPr>
            <a:r>
              <a:rPr lang="en-US" sz="2000" b="1" dirty="0"/>
              <a:t>Data Loading:</a:t>
            </a:r>
            <a:r>
              <a:rPr lang="en-US" sz="2000" dirty="0"/>
              <a:t>  </a:t>
            </a:r>
            <a:r>
              <a:rPr lang="en-US" sz="1800" dirty="0"/>
              <a:t>Dataset is stored in CSV format and loaded using the Pandas library in Python.</a:t>
            </a:r>
          </a:p>
          <a:p>
            <a:r>
              <a:rPr lang="en-US" sz="1800" dirty="0"/>
              <a:t> </a:t>
            </a:r>
          </a:p>
          <a:p>
            <a:pPr marL="342900" indent="-342900">
              <a:buFont typeface="Wingdings" panose="05000000000000000000" pitchFamily="2" charset="2"/>
              <a:buChar char="v"/>
            </a:pPr>
            <a:r>
              <a:rPr lang="en-US" sz="2000" b="1" dirty="0"/>
              <a:t>Required Libraries:</a:t>
            </a:r>
            <a:r>
              <a:rPr lang="en-US" sz="2000" dirty="0"/>
              <a:t>  </a:t>
            </a:r>
            <a:r>
              <a:rPr lang="en-US" sz="1800" dirty="0"/>
              <a:t>Pandas, NumPy, Matplotlib, Seaborn, Scikit-learn. </a:t>
            </a:r>
          </a:p>
          <a:p>
            <a:pPr marL="0" lvl="0" indent="0" algn="l" rtl="0">
              <a:lnSpc>
                <a:spcPct val="100000"/>
              </a:lnSpc>
              <a:spcBef>
                <a:spcPts val="0"/>
              </a:spcBef>
              <a:spcAft>
                <a:spcPts val="0"/>
              </a:spcAft>
              <a:buNone/>
            </a:pPr>
            <a:endParaRPr sz="2400" dirty="0">
              <a:solidFill>
                <a:srgbClr val="0C357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p:nvPr/>
        </p:nvSpPr>
        <p:spPr>
          <a:xfrm>
            <a:off x="925286" y="566057"/>
            <a:ext cx="10417628"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002060"/>
                </a:solidFill>
                <a:latin typeface="Times New Roman"/>
                <a:ea typeface="Times New Roman"/>
                <a:cs typeface="Times New Roman"/>
                <a:sym typeface="Times New Roman"/>
              </a:rPr>
              <a:t>Data Exploration &amp; Understanding</a:t>
            </a:r>
            <a:endParaRPr dirty="0">
              <a:solidFill>
                <a:srgbClr val="002060"/>
              </a:solidFill>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18" name="Google Shape;118;p6"/>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9" name="Google Shape;119;p6"/>
          <p:cNvSpPr txBox="1"/>
          <p:nvPr/>
        </p:nvSpPr>
        <p:spPr>
          <a:xfrm>
            <a:off x="337714" y="1776900"/>
            <a:ext cx="11005200" cy="4776300"/>
          </a:xfrm>
          <a:prstGeom prst="rect">
            <a:avLst/>
          </a:prstGeom>
          <a:noFill/>
          <a:ln>
            <a:noFill/>
          </a:ln>
        </p:spPr>
        <p:txBody>
          <a:bodyPr spcFirstLastPara="1" wrap="square" lIns="91425" tIns="91425" rIns="91425" bIns="91425" anchor="t" anchorCtr="0">
            <a:noAutofit/>
          </a:bodyPr>
          <a:lstStyle/>
          <a:p>
            <a:endParaRPr lang="en-US" sz="1800" dirty="0"/>
          </a:p>
          <a:p>
            <a:pPr marL="342900" indent="-342900">
              <a:buFont typeface="Wingdings" panose="05000000000000000000" pitchFamily="2" charset="2"/>
              <a:buChar char="v"/>
            </a:pPr>
            <a:r>
              <a:rPr kumimoji="0" lang="en-US" altLang="en-US" sz="2000" i="0" u="none" strike="noStrike" cap="none" normalizeH="0" baseline="0" dirty="0">
                <a:ln>
                  <a:noFill/>
                </a:ln>
                <a:solidFill>
                  <a:schemeClr val="tx1"/>
                </a:solidFill>
                <a:effectLst/>
                <a:latin typeface="Arial" panose="020B0604020202020204" pitchFamily="34" charset="0"/>
              </a:rPr>
              <a:t>Loaded the Heart Disease Dataset using the Pandas library. </a:t>
            </a:r>
          </a:p>
          <a:p>
            <a:pPr marL="342900" indent="-342900">
              <a:buFont typeface="Wingdings" panose="05000000000000000000" pitchFamily="2" charset="2"/>
              <a:buChar char="v"/>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i="0" u="none" strike="noStrike" cap="none" normalizeH="0" baseline="0" dirty="0">
                <a:ln>
                  <a:noFill/>
                </a:ln>
                <a:solidFill>
                  <a:schemeClr val="tx1"/>
                </a:solidFill>
                <a:effectLst/>
                <a:latin typeface="Arial" panose="020B0604020202020204" pitchFamily="34" charset="0"/>
              </a:rPr>
              <a:t>the dataset by checking shape, columns, and data types.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i="0" u="none" strike="noStrike" cap="none" normalizeH="0" baseline="0" dirty="0">
                <a:ln>
                  <a:noFill/>
                </a:ln>
                <a:solidFill>
                  <a:schemeClr val="tx1"/>
                </a:solidFill>
                <a:effectLst/>
                <a:latin typeface="Arial" panose="020B0604020202020204" pitchFamily="34" charset="0"/>
              </a:rPr>
              <a:t>Identified missing values and duplicate records to ensure data quality.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i="0" u="none" strike="noStrike" cap="none" normalizeH="0" baseline="0" dirty="0">
                <a:ln>
                  <a:noFill/>
                </a:ln>
                <a:solidFill>
                  <a:schemeClr val="tx1"/>
                </a:solidFill>
                <a:effectLst/>
                <a:latin typeface="Arial" panose="020B0604020202020204" pitchFamily="34" charset="0"/>
              </a:rPr>
              <a:t>Generated statistical summary (mean, median, standard deviation, etc.) using </a:t>
            </a:r>
            <a:r>
              <a:rPr kumimoji="0" lang="en-US" altLang="en-US" sz="2000" i="0" u="none" strike="noStrike" cap="none" normalizeH="0" baseline="0" dirty="0">
                <a:ln>
                  <a:noFill/>
                </a:ln>
                <a:solidFill>
                  <a:schemeClr val="tx1"/>
                </a:solidFill>
                <a:effectLst/>
                <a:latin typeface="Arial Unicode MS"/>
              </a:rPr>
              <a:t>describe()</a:t>
            </a:r>
            <a:r>
              <a:rPr kumimoji="0" lang="en-US" altLang="en-US" sz="2000" i="0" u="none" strike="noStrike" cap="none" normalizeH="0" baseline="0" dirty="0">
                <a:ln>
                  <a:noFill/>
                </a:ln>
                <a:solidFill>
                  <a:schemeClr val="tx1"/>
                </a:solidFill>
                <a:effectLst/>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i="0" u="none" strike="noStrike" cap="none" normalizeH="0" baseline="0" dirty="0">
                <a:ln>
                  <a:noFill/>
                </a:ln>
                <a:solidFill>
                  <a:schemeClr val="tx1"/>
                </a:solidFill>
                <a:effectLst/>
                <a:latin typeface="Arial" panose="020B0604020202020204" pitchFamily="34" charset="0"/>
              </a:rPr>
              <a:t>Defined input features (X) and target variable (</a:t>
            </a:r>
            <a:r>
              <a:rPr kumimoji="0" lang="en-US" altLang="en-US" sz="2000" i="0" u="none" strike="noStrike" cap="none" normalizeH="0" baseline="0" dirty="0" err="1">
                <a:ln>
                  <a:noFill/>
                </a:ln>
                <a:solidFill>
                  <a:schemeClr val="tx1"/>
                </a:solidFill>
                <a:effectLst/>
                <a:latin typeface="Arial" panose="020B0604020202020204" pitchFamily="34" charset="0"/>
              </a:rPr>
              <a:t>HeartDisease</a:t>
            </a:r>
            <a:r>
              <a:rPr kumimoji="0" lang="en-US" altLang="en-US" sz="2000" i="0" u="none" strike="noStrike" cap="none" normalizeH="0" baseline="0" dirty="0">
                <a:ln>
                  <a:noFill/>
                </a:ln>
                <a:solidFill>
                  <a:schemeClr val="tx1"/>
                </a:solidFill>
                <a:effectLst/>
                <a:latin typeface="Arial" panose="020B0604020202020204" pitchFamily="34" charset="0"/>
              </a:rPr>
              <a:t>) for model training.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indent="-342900">
              <a:buFont typeface="Wingdings" panose="05000000000000000000" pitchFamily="2" charset="2"/>
              <a:buChar char="v"/>
            </a:pPr>
            <a:r>
              <a:rPr lang="en-US" sz="2000" dirty="0">
                <a:solidFill>
                  <a:srgbClr val="0C3571"/>
                </a:solidFill>
                <a:latin typeface="Times New Roman"/>
                <a:ea typeface="Times New Roman"/>
                <a:cs typeface="Times New Roman"/>
                <a:sym typeface="Times New Roman"/>
              </a:rPr>
              <a:t> </a:t>
            </a:r>
            <a:r>
              <a:rPr lang="en-US" sz="2000" dirty="0"/>
              <a:t>Data Analysis: The dataset was explored by checking data types</a:t>
            </a:r>
            <a:r>
              <a:rPr lang="en-US" sz="2400" dirty="0"/>
              <a:t>, </a:t>
            </a:r>
            <a:r>
              <a:rPr lang="en-US" sz="2000" dirty="0"/>
              <a:t>missing values, duplicates, and statistical summary before model training.</a:t>
            </a:r>
          </a:p>
          <a:p>
            <a:endParaRPr lang="en-US" sz="2400" dirty="0"/>
          </a:p>
          <a:p>
            <a:pPr marL="0" lvl="0" indent="0" algn="l" rtl="0">
              <a:lnSpc>
                <a:spcPct val="100000"/>
              </a:lnSpc>
              <a:spcBef>
                <a:spcPts val="0"/>
              </a:spcBef>
              <a:spcAft>
                <a:spcPts val="0"/>
              </a:spcAft>
              <a:buNone/>
            </a:pPr>
            <a:endParaRPr sz="2200" dirty="0">
              <a:solidFill>
                <a:srgbClr val="0C357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A88C0CB7-6F31-46A4-AE31-057F0DCBA2A1}"/>
              </a:ext>
            </a:extLst>
          </p:cNvPr>
          <p:cNvSpPr>
            <a:spLocks noChangeArrowheads="1"/>
          </p:cNvSpPr>
          <p:nvPr/>
        </p:nvSpPr>
        <p:spPr bwMode="auto">
          <a:xfrm>
            <a:off x="0" y="-461666"/>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Clr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p:nvPr/>
        </p:nvSpPr>
        <p:spPr>
          <a:xfrm>
            <a:off x="533825" y="155513"/>
            <a:ext cx="10417500" cy="14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1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700">
                <a:solidFill>
                  <a:srgbClr val="2F5496"/>
                </a:solidFill>
                <a:latin typeface="Times New Roman"/>
                <a:ea typeface="Times New Roman"/>
                <a:cs typeface="Times New Roman"/>
                <a:sym typeface="Times New Roman"/>
              </a:rPr>
              <a:t>Exploratory Data Analysis</a:t>
            </a:r>
            <a:endParaRPr sz="2100"/>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25" name="Google Shape;125;p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26" name="Google Shape;126;p7"/>
          <p:cNvSpPr txBox="1"/>
          <p:nvPr/>
        </p:nvSpPr>
        <p:spPr>
          <a:xfrm>
            <a:off x="394500" y="1540925"/>
            <a:ext cx="11416500" cy="4697700"/>
          </a:xfrm>
          <a:prstGeom prst="rect">
            <a:avLst/>
          </a:prstGeom>
          <a:noFill/>
          <a:ln>
            <a:noFill/>
          </a:ln>
        </p:spPr>
        <p:txBody>
          <a:bodyPr spcFirstLastPara="1" wrap="square" lIns="91425" tIns="91425" rIns="91425" bIns="91425" anchor="t" anchorCtr="0">
            <a:noAutofit/>
          </a:bodyPr>
          <a:lstStyle/>
          <a:p>
            <a:pPr marL="12700" lvl="0" indent="-1270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Histograms: Show feature distributions (temperature, pressure, etc.)</a:t>
            </a:r>
            <a:endParaRPr sz="2400" dirty="0">
              <a:solidFill>
                <a:schemeClr val="tx1"/>
              </a:solidFill>
              <a:latin typeface="Times New Roman"/>
              <a:ea typeface="Times New Roman"/>
              <a:cs typeface="Times New Roman"/>
              <a:sym typeface="Times New Roman"/>
            </a:endParaRPr>
          </a:p>
          <a:p>
            <a:pPr marL="12700" lvl="0" indent="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Correlation Matrix: Finds relationships among variables</a:t>
            </a:r>
            <a:endParaRPr sz="2400" dirty="0">
              <a:solidFill>
                <a:schemeClr val="tx1"/>
              </a:solidFill>
              <a:latin typeface="Times New Roman"/>
              <a:ea typeface="Times New Roman"/>
              <a:cs typeface="Times New Roman"/>
              <a:sym typeface="Times New Roman"/>
            </a:endParaRPr>
          </a:p>
          <a:p>
            <a:pPr marL="12700" lvl="0" indent="-1270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Scatter Plots: Reveal how settings affect production</a:t>
            </a:r>
          </a:p>
          <a:p>
            <a:pPr marL="12700" lvl="0" indent="-12700" algn="l" rtl="0">
              <a:lnSpc>
                <a:spcPct val="100000"/>
              </a:lnSpc>
              <a:spcBef>
                <a:spcPts val="0"/>
              </a:spcBef>
              <a:spcAft>
                <a:spcPts val="0"/>
              </a:spcAft>
              <a:buClr>
                <a:schemeClr val="dk1"/>
              </a:buClr>
              <a:buSzPts val="1100"/>
              <a:buFont typeface="Arial"/>
              <a:buNone/>
            </a:pPr>
            <a:endParaRPr sz="2400" dirty="0">
              <a:solidFill>
                <a:schemeClr val="tx1"/>
              </a:solidFill>
              <a:latin typeface="Times New Roman"/>
              <a:ea typeface="Times New Roman"/>
              <a:cs typeface="Times New Roman"/>
              <a:sym typeface="Times New Roman"/>
            </a:endParaRPr>
          </a:p>
          <a:p>
            <a:pPr marL="12700" lvl="0" indent="-1270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Key Insights:</a:t>
            </a:r>
            <a:endParaRPr sz="2400" dirty="0">
              <a:solidFill>
                <a:schemeClr val="tx1"/>
              </a:solidFill>
              <a:latin typeface="Times New Roman"/>
              <a:ea typeface="Times New Roman"/>
              <a:cs typeface="Times New Roman"/>
              <a:sym typeface="Times New Roman"/>
            </a:endParaRPr>
          </a:p>
          <a:p>
            <a:pPr marL="176213" lvl="0" indent="16510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Shorter cycle times → higher output</a:t>
            </a:r>
            <a:endParaRPr sz="2400" dirty="0">
              <a:solidFill>
                <a:schemeClr val="tx1"/>
              </a:solidFill>
              <a:latin typeface="Times New Roman"/>
              <a:ea typeface="Times New Roman"/>
              <a:cs typeface="Times New Roman"/>
              <a:sym typeface="Times New Roman"/>
            </a:endParaRPr>
          </a:p>
          <a:p>
            <a:pPr marL="176213" lvl="0" indent="16510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Higher operator experience → better performance</a:t>
            </a:r>
            <a:endParaRPr sz="2400" dirty="0">
              <a:solidFill>
                <a:schemeClr val="tx1"/>
              </a:solidFill>
              <a:latin typeface="Times New Roman"/>
              <a:ea typeface="Times New Roman"/>
              <a:cs typeface="Times New Roman"/>
              <a:sym typeface="Times New Roman"/>
            </a:endParaRPr>
          </a:p>
          <a:p>
            <a:pPr marL="176213" lvl="0" indent="165100" algn="l" rtl="0">
              <a:lnSpc>
                <a:spcPct val="100000"/>
              </a:lnSpc>
              <a:spcBef>
                <a:spcPts val="0"/>
              </a:spcBef>
              <a:spcAft>
                <a:spcPts val="0"/>
              </a:spcAft>
              <a:buClr>
                <a:schemeClr val="dk1"/>
              </a:buClr>
              <a:buSzPts val="1100"/>
              <a:buFont typeface="Arial"/>
              <a:buNone/>
            </a:pPr>
            <a:r>
              <a:rPr lang="en-IN" sz="2400" dirty="0">
                <a:solidFill>
                  <a:schemeClr val="tx1"/>
                </a:solidFill>
                <a:latin typeface="Times New Roman"/>
                <a:ea typeface="Times New Roman"/>
                <a:cs typeface="Times New Roman"/>
                <a:sym typeface="Times New Roman"/>
              </a:rPr>
              <a:t>• Cooling time balance: speed vs. quality trade-off</a:t>
            </a:r>
            <a:endParaRPr sz="2400" dirty="0">
              <a:solidFill>
                <a:schemeClr val="tx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2400" b="1" dirty="0">
              <a:solidFill>
                <a:srgbClr val="0C357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604285" y="56687"/>
            <a:ext cx="10417500" cy="130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300" dirty="0">
                <a:solidFill>
                  <a:srgbClr val="002060"/>
                </a:solidFill>
                <a:latin typeface="Times New Roman"/>
                <a:ea typeface="Times New Roman"/>
                <a:cs typeface="Times New Roman"/>
                <a:sym typeface="Times New Roman"/>
              </a:rPr>
              <a:t>Data </a:t>
            </a:r>
            <a:r>
              <a:rPr lang="en-IN" sz="4300" dirty="0" err="1">
                <a:solidFill>
                  <a:srgbClr val="002060"/>
                </a:solidFill>
                <a:latin typeface="Times New Roman"/>
                <a:ea typeface="Times New Roman"/>
                <a:cs typeface="Times New Roman"/>
                <a:sym typeface="Times New Roman"/>
              </a:rPr>
              <a:t>Preprocessing</a:t>
            </a:r>
            <a:r>
              <a:rPr lang="en-IN" sz="4300" dirty="0">
                <a:solidFill>
                  <a:srgbClr val="002060"/>
                </a:solidFill>
                <a:latin typeface="Times New Roman"/>
                <a:ea typeface="Times New Roman"/>
                <a:cs typeface="Times New Roman"/>
                <a:sym typeface="Times New Roman"/>
              </a:rPr>
              <a:t> &amp; Feature Engineering</a:t>
            </a:r>
            <a:endParaRPr sz="1700" dirty="0">
              <a:solidFill>
                <a:srgbClr val="002060"/>
              </a:solidFill>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32" name="Google Shape;132;p8"/>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33" name="Google Shape;133;p8"/>
          <p:cNvSpPr txBox="1"/>
          <p:nvPr/>
        </p:nvSpPr>
        <p:spPr>
          <a:xfrm>
            <a:off x="142241" y="1613100"/>
            <a:ext cx="11445474" cy="4940100"/>
          </a:xfrm>
          <a:prstGeom prst="rect">
            <a:avLst/>
          </a:prstGeom>
          <a:noFill/>
          <a:ln>
            <a:noFill/>
          </a:ln>
        </p:spPr>
        <p:txBody>
          <a:bodyPr spcFirstLastPara="1" wrap="square" lIns="91425" tIns="91425" rIns="91425" bIns="91425" anchor="t" anchorCtr="0">
            <a:noAutofit/>
          </a:bodyPr>
          <a:lstStyle/>
          <a:p>
            <a:pPr marL="25400" lvl="0" indent="-12700" algn="just" rtl="0">
              <a:lnSpc>
                <a:spcPct val="100000"/>
              </a:lnSpc>
              <a:spcBef>
                <a:spcPts val="0"/>
              </a:spcBef>
              <a:spcAft>
                <a:spcPts val="0"/>
              </a:spcAft>
              <a:buClr>
                <a:schemeClr val="dk1"/>
              </a:buClr>
              <a:buSzPts val="1100"/>
              <a:buFont typeface="Arial"/>
              <a:buNone/>
            </a:pPr>
            <a:endParaRPr lang="en-US" sz="2300" dirty="0">
              <a:solidFill>
                <a:srgbClr val="0C3571"/>
              </a:solidFill>
              <a:latin typeface="Times New Roman"/>
              <a:ea typeface="Times New Roman"/>
              <a:cs typeface="Times New Roman"/>
              <a:sym typeface="Times New Roman"/>
            </a:endParaRPr>
          </a:p>
          <a:p>
            <a:pPr marL="25400" lvl="0" indent="-12700" algn="just" rtl="0">
              <a:lnSpc>
                <a:spcPct val="100000"/>
              </a:lnSpc>
              <a:spcBef>
                <a:spcPts val="0"/>
              </a:spcBef>
              <a:spcAft>
                <a:spcPts val="0"/>
              </a:spcAft>
              <a:buClr>
                <a:schemeClr val="dk1"/>
              </a:buClr>
              <a:buSzPts val="1100"/>
              <a:buFont typeface="Arial"/>
              <a:buNone/>
            </a:pPr>
            <a:endParaRPr lang="en-US" sz="2300" dirty="0">
              <a:solidFill>
                <a:srgbClr val="0C3571"/>
              </a:solidFill>
              <a:latin typeface="Times New Roman"/>
              <a:ea typeface="Times New Roman"/>
              <a:cs typeface="Times New Roman"/>
              <a:sym typeface="Times New Roman"/>
            </a:endParaRPr>
          </a:p>
          <a:p>
            <a:pPr marL="25400" lvl="0" indent="-12700" algn="just" rtl="0">
              <a:lnSpc>
                <a:spcPct val="100000"/>
              </a:lnSpc>
              <a:spcBef>
                <a:spcPts val="0"/>
              </a:spcBef>
              <a:spcAft>
                <a:spcPts val="0"/>
              </a:spcAft>
              <a:buClr>
                <a:schemeClr val="dk1"/>
              </a:buClr>
              <a:buSzPts val="1100"/>
              <a:buFont typeface="Arial"/>
              <a:buNone/>
            </a:pPr>
            <a:endParaRPr sz="2300" dirty="0">
              <a:solidFill>
                <a:srgbClr val="0C3571"/>
              </a:solidFill>
              <a:latin typeface="Times New Roman"/>
              <a:ea typeface="Times New Roman"/>
              <a:cs typeface="Times New Roman"/>
              <a:sym typeface="Times New Roman"/>
            </a:endParaRPr>
          </a:p>
          <a:p>
            <a:pPr marL="342900" lvl="0" indent="-342900" algn="just" rtl="0">
              <a:lnSpc>
                <a:spcPct val="100000"/>
              </a:lnSpc>
              <a:spcBef>
                <a:spcPts val="0"/>
              </a:spcBef>
              <a:spcAft>
                <a:spcPts val="0"/>
              </a:spcAft>
              <a:buClr>
                <a:schemeClr val="dk1"/>
              </a:buClr>
              <a:buSzPct val="91000"/>
              <a:buFont typeface="Wingdings" panose="05000000000000000000" pitchFamily="2" charset="2"/>
              <a:buChar char="v"/>
            </a:pPr>
            <a:r>
              <a:rPr lang="en-IN" sz="2000" dirty="0">
                <a:solidFill>
                  <a:schemeClr val="tx1"/>
                </a:solidFill>
                <a:latin typeface="Times New Roman"/>
                <a:ea typeface="Times New Roman"/>
                <a:cs typeface="Times New Roman"/>
                <a:sym typeface="Times New Roman"/>
              </a:rPr>
              <a:t>Scaling Features</a:t>
            </a:r>
            <a:r>
              <a:rPr lang="en-IN" sz="2300" dirty="0">
                <a:solidFill>
                  <a:schemeClr val="tx1"/>
                </a:solidFill>
                <a:latin typeface="Times New Roman"/>
                <a:ea typeface="Times New Roman"/>
                <a:cs typeface="Times New Roman"/>
                <a:sym typeface="Times New Roman"/>
              </a:rPr>
              <a:t>:</a:t>
            </a:r>
            <a:endParaRPr sz="2300" dirty="0">
              <a:solidFill>
                <a:schemeClr val="tx1"/>
              </a:solidFill>
              <a:latin typeface="Times New Roman"/>
              <a:ea typeface="Times New Roman"/>
              <a:cs typeface="Times New Roman"/>
              <a:sym typeface="Times New Roman"/>
            </a:endParaRPr>
          </a:p>
          <a:p>
            <a:pPr marL="355600" lvl="0" indent="-342900" algn="just" rtl="0">
              <a:lnSpc>
                <a:spcPct val="100000"/>
              </a:lnSpc>
              <a:spcBef>
                <a:spcPts val="0"/>
              </a:spcBef>
              <a:spcAft>
                <a:spcPts val="0"/>
              </a:spcAft>
              <a:buClr>
                <a:schemeClr val="dk1"/>
              </a:buClr>
              <a:buSzPct val="95000"/>
              <a:buFont typeface="Arial" panose="020B0604020202020204" pitchFamily="34" charset="0"/>
              <a:buChar char="•"/>
            </a:pPr>
            <a:r>
              <a:rPr lang="en-IN" sz="2000" dirty="0">
                <a:solidFill>
                  <a:schemeClr val="tx1"/>
                </a:solidFill>
                <a:latin typeface="Times New Roman"/>
                <a:ea typeface="Times New Roman"/>
                <a:cs typeface="Times New Roman"/>
                <a:sym typeface="Times New Roman"/>
              </a:rPr>
              <a:t>Features have different ranges (e.g., Temperature in 200s, Experience in 10s).</a:t>
            </a:r>
            <a:endParaRPr sz="2000" dirty="0">
              <a:solidFill>
                <a:schemeClr val="tx1"/>
              </a:solidFill>
              <a:latin typeface="Times New Roman"/>
              <a:ea typeface="Times New Roman"/>
              <a:cs typeface="Times New Roman"/>
              <a:sym typeface="Times New Roman"/>
            </a:endParaRPr>
          </a:p>
          <a:p>
            <a:pPr marL="355600" lvl="0" indent="-342900" algn="just" rtl="0">
              <a:lnSpc>
                <a:spcPct val="100000"/>
              </a:lnSpc>
              <a:spcBef>
                <a:spcPts val="0"/>
              </a:spcBef>
              <a:spcAft>
                <a:spcPts val="0"/>
              </a:spcAft>
              <a:buClr>
                <a:schemeClr val="dk1"/>
              </a:buClr>
              <a:buSzPct val="95000"/>
              <a:buFont typeface="Arial" panose="020B0604020202020204" pitchFamily="34" charset="0"/>
              <a:buChar char="•"/>
            </a:pPr>
            <a:r>
              <a:rPr lang="en-IN" sz="2000" dirty="0">
                <a:solidFill>
                  <a:schemeClr val="tx1"/>
                </a:solidFill>
                <a:latin typeface="Times New Roman"/>
                <a:ea typeface="Times New Roman"/>
                <a:cs typeface="Times New Roman"/>
                <a:sym typeface="Times New Roman"/>
              </a:rPr>
              <a:t>Scaling puts everything on a similar scale so the model treats them fairly.</a:t>
            </a:r>
          </a:p>
          <a:p>
            <a:pPr marL="355600" lvl="0" indent="-342900" algn="just" rtl="0">
              <a:lnSpc>
                <a:spcPct val="100000"/>
              </a:lnSpc>
              <a:spcBef>
                <a:spcPts val="0"/>
              </a:spcBef>
              <a:spcAft>
                <a:spcPts val="0"/>
              </a:spcAft>
              <a:buClr>
                <a:schemeClr val="dk1"/>
              </a:buClr>
              <a:buSzPct val="95000"/>
              <a:buFont typeface="Arial" panose="020B0604020202020204" pitchFamily="34" charset="0"/>
              <a:buChar char="•"/>
            </a:pPr>
            <a:endParaRPr sz="2000" dirty="0">
              <a:solidFill>
                <a:schemeClr val="tx1"/>
              </a:solidFill>
              <a:latin typeface="Times New Roman"/>
              <a:ea typeface="Times New Roman"/>
              <a:cs typeface="Times New Roman"/>
              <a:sym typeface="Times New Roman"/>
            </a:endParaRPr>
          </a:p>
          <a:p>
            <a:pPr marL="342900" lvl="0" indent="-342900" algn="just" rtl="0">
              <a:lnSpc>
                <a:spcPct val="100000"/>
              </a:lnSpc>
              <a:spcBef>
                <a:spcPts val="0"/>
              </a:spcBef>
              <a:spcAft>
                <a:spcPts val="0"/>
              </a:spcAft>
              <a:buClr>
                <a:schemeClr val="dk1"/>
              </a:buClr>
              <a:buSzPct val="100000"/>
              <a:buFont typeface="Wingdings" panose="05000000000000000000" pitchFamily="2" charset="2"/>
              <a:buChar char="v"/>
            </a:pPr>
            <a:r>
              <a:rPr lang="en-IN" sz="2000" dirty="0">
                <a:solidFill>
                  <a:schemeClr val="tx1"/>
                </a:solidFill>
                <a:latin typeface="Times New Roman"/>
                <a:ea typeface="Times New Roman"/>
                <a:cs typeface="Times New Roman"/>
                <a:sym typeface="Times New Roman"/>
              </a:rPr>
              <a:t>Splitting Data:</a:t>
            </a:r>
            <a:endParaRPr sz="2000" dirty="0">
              <a:solidFill>
                <a:schemeClr val="tx1"/>
              </a:solidFill>
              <a:latin typeface="Times New Roman"/>
              <a:ea typeface="Times New Roman"/>
              <a:cs typeface="Times New Roman"/>
              <a:sym typeface="Times New Roman"/>
            </a:endParaRPr>
          </a:p>
          <a:p>
            <a:pPr marL="355600" lvl="0" indent="-342900" algn="just" rtl="0">
              <a:lnSpc>
                <a:spcPct val="100000"/>
              </a:lnSpc>
              <a:spcBef>
                <a:spcPts val="0"/>
              </a:spcBef>
              <a:spcAft>
                <a:spcPts val="0"/>
              </a:spcAft>
              <a:buClr>
                <a:schemeClr val="dk1"/>
              </a:buClr>
              <a:buSzPct val="95000"/>
              <a:buFont typeface="Arial" panose="020B0604020202020204" pitchFamily="34" charset="0"/>
              <a:buChar char="•"/>
            </a:pPr>
            <a:r>
              <a:rPr lang="en-IN" sz="2000" dirty="0">
                <a:solidFill>
                  <a:schemeClr val="tx1"/>
                </a:solidFill>
                <a:latin typeface="Times New Roman"/>
                <a:ea typeface="Times New Roman"/>
                <a:cs typeface="Times New Roman"/>
                <a:sym typeface="Times New Roman"/>
              </a:rPr>
              <a:t>Divide data into training set (80%) and test set (20%).</a:t>
            </a:r>
            <a:endParaRPr sz="2000" dirty="0">
              <a:solidFill>
                <a:schemeClr val="tx1"/>
              </a:solidFill>
              <a:latin typeface="Times New Roman"/>
              <a:ea typeface="Times New Roman"/>
              <a:cs typeface="Times New Roman"/>
              <a:sym typeface="Times New Roman"/>
            </a:endParaRPr>
          </a:p>
          <a:p>
            <a:pPr marL="355600" lvl="0" indent="-342900" algn="just" rtl="0">
              <a:lnSpc>
                <a:spcPct val="100000"/>
              </a:lnSpc>
              <a:spcBef>
                <a:spcPts val="0"/>
              </a:spcBef>
              <a:spcAft>
                <a:spcPts val="0"/>
              </a:spcAft>
              <a:buClr>
                <a:schemeClr val="dk1"/>
              </a:buClr>
              <a:buSzPct val="95000"/>
              <a:buFont typeface="Arial" panose="020B0604020202020204" pitchFamily="34" charset="0"/>
              <a:buChar char="•"/>
            </a:pPr>
            <a:r>
              <a:rPr lang="en-IN" sz="2000" dirty="0">
                <a:solidFill>
                  <a:schemeClr val="tx1"/>
                </a:solidFill>
                <a:latin typeface="Times New Roman"/>
                <a:ea typeface="Times New Roman"/>
                <a:cs typeface="Times New Roman"/>
                <a:sym typeface="Times New Roman"/>
              </a:rPr>
              <a:t>Training set → teach the model.</a:t>
            </a:r>
            <a:endParaRPr sz="2000" dirty="0">
              <a:solidFill>
                <a:schemeClr val="tx1"/>
              </a:solidFill>
              <a:latin typeface="Times New Roman"/>
              <a:ea typeface="Times New Roman"/>
              <a:cs typeface="Times New Roman"/>
              <a:sym typeface="Times New Roman"/>
            </a:endParaRPr>
          </a:p>
          <a:p>
            <a:pPr marL="355600" lvl="0" indent="-342900" algn="just" rtl="0">
              <a:lnSpc>
                <a:spcPct val="100000"/>
              </a:lnSpc>
              <a:spcBef>
                <a:spcPts val="0"/>
              </a:spcBef>
              <a:spcAft>
                <a:spcPts val="0"/>
              </a:spcAft>
              <a:buClr>
                <a:schemeClr val="dk1"/>
              </a:buClr>
              <a:buSzPct val="95000"/>
              <a:buFont typeface="Arial" panose="020B0604020202020204" pitchFamily="34" charset="0"/>
              <a:buChar char="•"/>
            </a:pPr>
            <a:r>
              <a:rPr lang="en-IN" sz="2000" dirty="0">
                <a:solidFill>
                  <a:schemeClr val="tx1"/>
                </a:solidFill>
                <a:latin typeface="Times New Roman"/>
                <a:ea typeface="Times New Roman"/>
                <a:cs typeface="Times New Roman"/>
                <a:sym typeface="Times New Roman"/>
              </a:rPr>
              <a:t>Test set → check if the model works on new data.</a:t>
            </a:r>
            <a:endParaRPr sz="2000" dirty="0">
              <a:solidFill>
                <a:schemeClr val="tx1"/>
              </a:solidFill>
              <a:latin typeface="Times New Roman"/>
              <a:ea typeface="Times New Roman"/>
              <a:cs typeface="Times New Roman"/>
              <a:sym typeface="Times New Roman"/>
            </a:endParaRPr>
          </a:p>
          <a:p>
            <a:pPr marL="355600" lvl="0" indent="-342900" algn="just" rtl="0">
              <a:lnSpc>
                <a:spcPct val="100000"/>
              </a:lnSpc>
              <a:spcBef>
                <a:spcPts val="0"/>
              </a:spcBef>
              <a:spcAft>
                <a:spcPts val="0"/>
              </a:spcAft>
              <a:buSzPct val="95000"/>
              <a:buFont typeface="Arial" panose="020B0604020202020204" pitchFamily="34" charset="0"/>
              <a:buChar char="•"/>
            </a:pPr>
            <a:r>
              <a:rPr lang="en-IN" sz="2000" dirty="0">
                <a:solidFill>
                  <a:schemeClr val="tx1"/>
                </a:solidFill>
                <a:latin typeface="Times New Roman"/>
                <a:ea typeface="Times New Roman"/>
                <a:cs typeface="Times New Roman"/>
                <a:sym typeface="Times New Roman"/>
              </a:rPr>
              <a:t>Use a fixed random number so we always get the same split.</a:t>
            </a:r>
          </a:p>
          <a:p>
            <a:pPr marL="355600" lvl="0" indent="-342900" algn="just" rtl="0">
              <a:lnSpc>
                <a:spcPct val="100000"/>
              </a:lnSpc>
              <a:spcBef>
                <a:spcPts val="0"/>
              </a:spcBef>
              <a:spcAft>
                <a:spcPts val="0"/>
              </a:spcAft>
              <a:buSzPct val="95000"/>
              <a:buFont typeface="Arial" panose="020B0604020202020204" pitchFamily="34" charset="0"/>
              <a:buChar char="•"/>
            </a:pPr>
            <a:endParaRPr lang="en-IN" sz="2000" dirty="0">
              <a:solidFill>
                <a:schemeClr val="tx1"/>
              </a:solidFill>
              <a:latin typeface="Times New Roman"/>
              <a:ea typeface="Times New Roman"/>
              <a:cs typeface="Times New Roman"/>
              <a:sym typeface="Times New Roman"/>
            </a:endParaRPr>
          </a:p>
          <a:p>
            <a:pPr marL="355600" indent="-342900" algn="just">
              <a:buFont typeface="Wingdings" panose="05000000000000000000" pitchFamily="2" charset="2"/>
              <a:buChar char="v"/>
            </a:pPr>
            <a:r>
              <a:rPr kumimoji="0" lang="en-US" altLang="en-US" sz="2000" b="0" i="0" u="none" strike="noStrike" cap="none" normalizeH="0" baseline="0" dirty="0">
                <a:ln>
                  <a:noFill/>
                </a:ln>
                <a:solidFill>
                  <a:schemeClr val="tx1"/>
                </a:solidFill>
                <a:effectLst/>
                <a:latin typeface="Arial" panose="020B0604020202020204" pitchFamily="34" charset="0"/>
              </a:rPr>
              <a:t>Removed highly correlated or irrelevant features to reduce redundancy. </a:t>
            </a:r>
          </a:p>
          <a:p>
            <a:pPr marL="25400" lvl="0" indent="-12700" algn="just" rtl="0">
              <a:lnSpc>
                <a:spcPct val="100000"/>
              </a:lnSpc>
              <a:spcBef>
                <a:spcPts val="0"/>
              </a:spcBef>
              <a:spcAft>
                <a:spcPts val="0"/>
              </a:spcAft>
              <a:buNone/>
            </a:pPr>
            <a:endParaRPr sz="2300" b="1" dirty="0">
              <a:solidFill>
                <a:srgbClr val="0C357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EE8D596A-8CB7-4B96-9E2C-EEED2EB9B1C1}"/>
              </a:ext>
            </a:extLst>
          </p:cNvPr>
          <p:cNvSpPr>
            <a:spLocks noChangeArrowheads="1"/>
          </p:cNvSpPr>
          <p:nvPr/>
        </p:nvSpPr>
        <p:spPr bwMode="auto">
          <a:xfrm>
            <a:off x="142241" y="1024700"/>
            <a:ext cx="856487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Handled missing values using mean/median imputation</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Removed duplicate records to ensure clean data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p:nvPr/>
        </p:nvSpPr>
        <p:spPr>
          <a:xfrm>
            <a:off x="486550" y="201707"/>
            <a:ext cx="10535235"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002060"/>
                </a:solidFill>
                <a:latin typeface="Times New Roman"/>
                <a:ea typeface="Times New Roman"/>
                <a:cs typeface="Times New Roman"/>
                <a:sym typeface="Times New Roman"/>
              </a:rPr>
              <a:t>Model Building &amp; Training</a:t>
            </a:r>
            <a:endParaRPr dirty="0">
              <a:solidFill>
                <a:srgbClr val="002060"/>
              </a:solidFill>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39" name="Google Shape;139;p9"/>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0" name="Google Shape;140;p9"/>
          <p:cNvSpPr txBox="1"/>
          <p:nvPr/>
        </p:nvSpPr>
        <p:spPr>
          <a:xfrm>
            <a:off x="951565" y="832757"/>
            <a:ext cx="11576100" cy="10156596"/>
          </a:xfrm>
          <a:prstGeom prst="rect">
            <a:avLst/>
          </a:prstGeom>
          <a:noFill/>
          <a:ln>
            <a:noFill/>
          </a:ln>
        </p:spPr>
        <p:txBody>
          <a:bodyPr spcFirstLastPara="1" wrap="square" lIns="91425" tIns="91425" rIns="91425" bIns="91425" anchor="t" anchorCtr="0">
            <a:spAutoFit/>
          </a:bodyPr>
          <a:lstStyle/>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a:ln>
                  <a:noFill/>
                </a:ln>
                <a:solidFill>
                  <a:schemeClr val="tx1"/>
                </a:solidFill>
                <a:effectLst/>
                <a:latin typeface="Arial" panose="020B0604020202020204" pitchFamily="34" charset="0"/>
              </a:rPr>
              <a:t>Split the dataset into training (80%) and testing (20%) sets.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4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a:ln>
                  <a:noFill/>
                </a:ln>
                <a:solidFill>
                  <a:schemeClr val="tx1"/>
                </a:solidFill>
                <a:effectLst/>
                <a:latin typeface="Arial" panose="020B0604020202020204" pitchFamily="34" charset="0"/>
              </a:rPr>
              <a:t>Applied feature scaling using </a:t>
            </a:r>
            <a:r>
              <a:rPr kumimoji="0" lang="en-US" altLang="en-US" sz="2400" i="0" u="none" strike="noStrike" cap="none" normalizeH="0" baseline="0" dirty="0" err="1">
                <a:ln>
                  <a:noFill/>
                </a:ln>
                <a:solidFill>
                  <a:schemeClr val="tx1"/>
                </a:solidFill>
                <a:effectLst/>
                <a:latin typeface="Arial" panose="020B0604020202020204" pitchFamily="34" charset="0"/>
              </a:rPr>
              <a:t>StandardScaler</a:t>
            </a:r>
            <a:r>
              <a:rPr kumimoji="0" lang="en-US" altLang="en-US" sz="240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4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a:ln>
                  <a:noFill/>
                </a:ln>
                <a:solidFill>
                  <a:schemeClr val="tx1"/>
                </a:solidFill>
                <a:effectLst/>
                <a:latin typeface="Arial" panose="020B0604020202020204" pitchFamily="34" charset="0"/>
              </a:rPr>
              <a:t>Trained multiple classification models: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dirty="0">
                <a:solidFill>
                  <a:schemeClr val="tx1"/>
                </a:solidFill>
                <a:latin typeface="Arial" panose="020B0604020202020204" pitchFamily="34" charset="0"/>
              </a:rPr>
              <a:t>   </a:t>
            </a:r>
            <a:r>
              <a:rPr kumimoji="0" lang="en-US" altLang="en-US" sz="2000" i="0" u="none" strike="noStrike" cap="none" normalizeH="0" baseline="0" dirty="0">
                <a:ln>
                  <a:noFill/>
                </a:ln>
                <a:solidFill>
                  <a:schemeClr val="tx1"/>
                </a:solidFill>
                <a:effectLst/>
                <a:latin typeface="Arial" panose="020B0604020202020204" pitchFamily="34" charset="0"/>
              </a:rPr>
              <a:t>Logistic Regression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    KNN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    Decision Tree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    Random Forest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i="0" u="none" strike="noStrike" cap="none" normalizeH="0" baseline="0" dirty="0">
                <a:ln>
                  <a:noFill/>
                </a:ln>
                <a:solidFill>
                  <a:schemeClr val="tx1"/>
                </a:solidFill>
                <a:effectLst/>
                <a:latin typeface="Arial" panose="020B0604020202020204" pitchFamily="34" charset="0"/>
              </a:rPr>
              <a:t>    SVM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a:ln>
                  <a:noFill/>
                </a:ln>
                <a:solidFill>
                  <a:schemeClr val="tx1"/>
                </a:solidFill>
                <a:effectLst/>
                <a:latin typeface="Arial" panose="020B0604020202020204" pitchFamily="34" charset="0"/>
              </a:rPr>
              <a:t>Evaluated each model using performance metrics.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a:ln>
                  <a:noFill/>
                </a:ln>
                <a:solidFill>
                  <a:schemeClr val="tx1"/>
                </a:solidFill>
                <a:effectLst/>
                <a:latin typeface="Arial" panose="020B0604020202020204" pitchFamily="34" charset="0"/>
              </a:rPr>
              <a:t>Selected the best-performing model for heart disease prediction. </a:t>
            </a:r>
          </a:p>
          <a:p>
            <a:pPr marL="457200" lvl="0" indent="-381000" algn="just">
              <a:buClr>
                <a:srgbClr val="2F5496"/>
              </a:buClr>
              <a:buSzPts val="2400"/>
              <a:buFont typeface="Times New Roman"/>
              <a:buChar char="●"/>
            </a:pPr>
            <a:endParaRPr lang="en-US" sz="2400"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lang="en-US" sz="2400" b="1" dirty="0">
              <a:solidFill>
                <a:srgbClr val="2F5496"/>
              </a:solidFill>
              <a:latin typeface="Times New Roman"/>
              <a:ea typeface="Times New Roman"/>
              <a:cs typeface="Times New Roman"/>
              <a:sym typeface="Times New Roman"/>
            </a:endParaRPr>
          </a:p>
          <a:p>
            <a:pPr marL="457200" lvl="0" indent="-381000" algn="just">
              <a:buClr>
                <a:srgbClr val="2F5496"/>
              </a:buClr>
              <a:buSzPts val="2400"/>
              <a:buFont typeface="Times New Roman"/>
              <a:buChar char="●"/>
            </a:pPr>
            <a:endParaRPr sz="2400" b="1" dirty="0">
              <a:solidFill>
                <a:srgbClr val="2F5496"/>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384A2A2A-632D-4241-9F35-73356693EA9E}"/>
              </a:ext>
            </a:extLst>
          </p:cNvPr>
          <p:cNvSpPr>
            <a:spLocks noChangeArrowheads="1"/>
          </p:cNvSpPr>
          <p:nvPr/>
        </p:nvSpPr>
        <p:spPr bwMode="auto">
          <a:xfrm>
            <a:off x="0" y="-323169"/>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8cdb4fd196_2_27"/>
          <p:cNvSpPr txBox="1"/>
          <p:nvPr/>
        </p:nvSpPr>
        <p:spPr>
          <a:xfrm>
            <a:off x="381000" y="0"/>
            <a:ext cx="10417500" cy="29853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114300" algn="just">
              <a:lnSpc>
                <a:spcPct val="115000"/>
              </a:lnSpc>
            </a:pPr>
            <a:r>
              <a:rPr lang="en-IN" sz="4000" dirty="0">
                <a:solidFill>
                  <a:srgbClr val="002060"/>
                </a:solidFill>
                <a:latin typeface="Times New Roman"/>
                <a:ea typeface="Times New Roman"/>
                <a:cs typeface="Times New Roman"/>
                <a:sym typeface="Times New Roman"/>
              </a:rPr>
              <a:t>Model Evaluation q&amp; Performance Analysis </a:t>
            </a:r>
            <a:endParaRPr lang="en-US" sz="3600" dirty="0">
              <a:solidFill>
                <a:srgbClr val="002060"/>
              </a:solidFill>
            </a:endParaRPr>
          </a:p>
          <a:p>
            <a:pPr marL="114300" indent="0" algn="just">
              <a:lnSpc>
                <a:spcPct val="115000"/>
              </a:lnSpc>
              <a:buNone/>
            </a:pPr>
            <a:endParaRPr lang="en-US" sz="4000" dirty="0"/>
          </a:p>
          <a:p>
            <a:pPr marL="114300" indent="0" algn="just">
              <a:lnSpc>
                <a:spcPct val="115000"/>
              </a:lnSpc>
              <a:buNone/>
            </a:pPr>
            <a:endParaRPr lang="en-US" sz="4000" dirty="0"/>
          </a:p>
          <a:p>
            <a:pPr marL="0" marR="0" lvl="0" indent="0" algn="l" rtl="0">
              <a:spcBef>
                <a:spcPts val="0"/>
              </a:spcBef>
              <a:spcAft>
                <a:spcPts val="0"/>
              </a:spcAft>
              <a:buNone/>
            </a:pPr>
            <a:endParaRPr dirty="0">
              <a:solidFill>
                <a:srgbClr val="002060"/>
              </a:solidFill>
            </a:endParaRPr>
          </a:p>
          <a:p>
            <a:pPr marL="0" marR="0" lvl="0" indent="0" algn="l" rtl="0">
              <a:spcBef>
                <a:spcPts val="0"/>
              </a:spcBef>
              <a:spcAft>
                <a:spcPts val="0"/>
              </a:spcAft>
              <a:buNone/>
            </a:pPr>
            <a:r>
              <a:rPr lang="en-IN" sz="1800" dirty="0">
                <a:solidFill>
                  <a:srgbClr val="7030A0"/>
                </a:solidFill>
                <a:latin typeface="Times New Roman"/>
                <a:ea typeface="Times New Roman"/>
                <a:cs typeface="Times New Roman"/>
                <a:sym typeface="Times New Roman"/>
              </a:rPr>
              <a:t> </a:t>
            </a:r>
            <a:endParaRPr sz="1800" dirty="0">
              <a:solidFill>
                <a:srgbClr val="7030A0"/>
              </a:solidFill>
              <a:latin typeface="Times New Roman"/>
              <a:ea typeface="Times New Roman"/>
              <a:cs typeface="Times New Roman"/>
              <a:sym typeface="Times New Roman"/>
            </a:endParaRPr>
          </a:p>
        </p:txBody>
      </p:sp>
      <p:pic>
        <p:nvPicPr>
          <p:cNvPr id="146" name="Google Shape;146;g38cdb4fd196_2_2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7" name="Google Shape;147;g38cdb4fd196_2_27"/>
          <p:cNvSpPr txBox="1"/>
          <p:nvPr/>
        </p:nvSpPr>
        <p:spPr>
          <a:xfrm>
            <a:off x="355600" y="1566900"/>
            <a:ext cx="11187600" cy="8688502"/>
          </a:xfrm>
          <a:prstGeom prst="rect">
            <a:avLst/>
          </a:prstGeom>
          <a:noFill/>
          <a:ln>
            <a:noFill/>
          </a:ln>
        </p:spPr>
        <p:txBody>
          <a:bodyPr spcFirstLastPara="1" wrap="square" lIns="91425" tIns="91425" rIns="91425" bIns="91425" anchor="t" anchorCtr="0">
            <a:spAutoFit/>
          </a:bodyPr>
          <a:lstStyle/>
          <a:p>
            <a:pPr marL="342900" lvl="0" indent="-342900" algn="just" rtl="0">
              <a:lnSpc>
                <a:spcPct val="115000"/>
              </a:lnSpc>
              <a:spcBef>
                <a:spcPts val="0"/>
              </a:spcBef>
              <a:spcAft>
                <a:spcPts val="0"/>
              </a:spcAft>
              <a:buFont typeface="Wingdings" panose="05000000000000000000" pitchFamily="2" charset="2"/>
              <a:buChar char="v"/>
            </a:pPr>
            <a:r>
              <a:rPr lang="en-US" sz="2000" dirty="0"/>
              <a:t>Model is evaluated using multiple classification metrics for accurate heart disease prediction</a:t>
            </a:r>
          </a:p>
          <a:p>
            <a:pPr marL="342900" lvl="0" indent="-342900" algn="just" rtl="0">
              <a:lnSpc>
                <a:spcPct val="115000"/>
              </a:lnSpc>
              <a:spcBef>
                <a:spcPts val="0"/>
              </a:spcBef>
              <a:spcAft>
                <a:spcPts val="0"/>
              </a:spcAft>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Accuracy:</a:t>
            </a:r>
            <a:r>
              <a:rPr lang="en-US" sz="2000" dirty="0"/>
              <a:t> Measures overall correct predictions. </a:t>
            </a:r>
          </a:p>
          <a:p>
            <a:endParaRPr lang="en-US" sz="2000" dirty="0"/>
          </a:p>
          <a:p>
            <a:pPr marL="342900" indent="-342900">
              <a:buFont typeface="Wingdings" panose="05000000000000000000" pitchFamily="2" charset="2"/>
              <a:buChar char="v"/>
            </a:pPr>
            <a:r>
              <a:rPr lang="en-US" sz="2000" b="1" dirty="0"/>
              <a:t>Precision:</a:t>
            </a:r>
            <a:r>
              <a:rPr lang="en-US" sz="2000" dirty="0"/>
              <a:t> Correctness of positive predictions.</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Recall :</a:t>
            </a:r>
            <a:r>
              <a:rPr lang="en-US" sz="2000" dirty="0"/>
              <a:t> Ability to detect actual heart disease cases. </a:t>
            </a:r>
          </a:p>
          <a:p>
            <a:pPr marL="342900" indent="-342900">
              <a:buFont typeface="Wingdings" panose="05000000000000000000" pitchFamily="2" charset="2"/>
              <a:buChar char="v"/>
            </a:pPr>
            <a:endParaRPr lang="en-US" sz="2000" dirty="0"/>
          </a:p>
          <a:p>
            <a:pPr marL="342900" indent="-342900">
              <a:buFont typeface="Wingdings" panose="05000000000000000000" pitchFamily="2" charset="2"/>
              <a:buChar char="v"/>
            </a:pPr>
            <a:r>
              <a:rPr lang="en-US" sz="2000" b="1" dirty="0"/>
              <a:t>F1 Score:</a:t>
            </a:r>
            <a:r>
              <a:rPr lang="en-US" sz="2000" dirty="0"/>
              <a:t> Balance between Precision and Recall. </a:t>
            </a:r>
          </a:p>
          <a:p>
            <a:endParaRPr lang="en-US" sz="2000" dirty="0"/>
          </a:p>
          <a:p>
            <a:pPr marL="342900" indent="-342900">
              <a:buFont typeface="Wingdings" panose="05000000000000000000" pitchFamily="2" charset="2"/>
              <a:buChar char="v"/>
            </a:pPr>
            <a:r>
              <a:rPr lang="en-US" sz="2000" b="1" dirty="0"/>
              <a:t>Train vs Test Accuracy:</a:t>
            </a:r>
            <a:r>
              <a:rPr lang="en-US" sz="2000" dirty="0"/>
              <a:t> Checks overfitting and generalization. </a:t>
            </a:r>
          </a:p>
          <a:p>
            <a:pPr algn="just">
              <a:lnSpc>
                <a:spcPct val="115000"/>
              </a:lnSpc>
            </a:pPr>
            <a:endParaRPr lang="en-IN" sz="20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lang="en-IN" sz="2200" dirty="0">
              <a:solidFill>
                <a:srgbClr val="0C357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9F77C-9A1E-4742-83A7-D7C9E3139D49}"/>
              </a:ext>
            </a:extLst>
          </p:cNvPr>
          <p:cNvSpPr>
            <a:spLocks noGrp="1"/>
          </p:cNvSpPr>
          <p:nvPr>
            <p:ph type="title"/>
          </p:nvPr>
        </p:nvSpPr>
        <p:spPr>
          <a:xfrm>
            <a:off x="838200" y="802005"/>
            <a:ext cx="10515600" cy="1325563"/>
          </a:xfrm>
        </p:spPr>
        <p:txBody>
          <a:bodyPr>
            <a:normAutofit/>
          </a:bodyPr>
          <a:lstStyle/>
          <a:p>
            <a:r>
              <a:rPr lang="en-US" sz="3200" dirty="0">
                <a:solidFill>
                  <a:srgbClr val="002060"/>
                </a:solidFill>
              </a:rPr>
              <a:t>ROC Curve : - </a:t>
            </a:r>
            <a:r>
              <a:rPr lang="en-US" sz="2800" dirty="0">
                <a:solidFill>
                  <a:schemeClr val="tx1"/>
                </a:solidFill>
              </a:rPr>
              <a:t>classification model performance evaluation</a:t>
            </a:r>
            <a:br>
              <a:rPr lang="en-US" sz="3200" dirty="0">
                <a:solidFill>
                  <a:srgbClr val="002060"/>
                </a:solidFill>
              </a:rPr>
            </a:br>
            <a:endParaRPr lang="en-US" sz="3200" dirty="0">
              <a:solidFill>
                <a:srgbClr val="002060"/>
              </a:solidFill>
            </a:endParaRPr>
          </a:p>
        </p:txBody>
      </p:sp>
      <p:sp>
        <p:nvSpPr>
          <p:cNvPr id="3" name="Text Placeholder 2">
            <a:extLst>
              <a:ext uri="{FF2B5EF4-FFF2-40B4-BE49-F238E27FC236}">
                <a16:creationId xmlns:a16="http://schemas.microsoft.com/office/drawing/2014/main" id="{2247D79F-82B4-42FB-A0FF-B297F699E03C}"/>
              </a:ext>
            </a:extLst>
          </p:cNvPr>
          <p:cNvSpPr>
            <a:spLocks noGrp="1"/>
          </p:cNvSpPr>
          <p:nvPr>
            <p:ph type="body" idx="1"/>
          </p:nvPr>
        </p:nvSpPr>
        <p:spPr/>
        <p:txBody>
          <a:bodyPr/>
          <a:lstStyle/>
          <a:p>
            <a:pPr marL="114300" indent="0">
              <a:buNone/>
            </a:pPr>
            <a:endParaRPr lang="en-US" dirty="0"/>
          </a:p>
        </p:txBody>
      </p:sp>
      <p:pic>
        <p:nvPicPr>
          <p:cNvPr id="5" name="Picture 4">
            <a:extLst>
              <a:ext uri="{FF2B5EF4-FFF2-40B4-BE49-F238E27FC236}">
                <a16:creationId xmlns:a16="http://schemas.microsoft.com/office/drawing/2014/main" id="{AE943608-C91F-4052-8322-65A251016412}"/>
              </a:ext>
            </a:extLst>
          </p:cNvPr>
          <p:cNvPicPr>
            <a:picLocks noChangeAspect="1"/>
          </p:cNvPicPr>
          <p:nvPr/>
        </p:nvPicPr>
        <p:blipFill>
          <a:blip r:embed="rId2"/>
          <a:stretch>
            <a:fillRect/>
          </a:stretch>
        </p:blipFill>
        <p:spPr>
          <a:xfrm>
            <a:off x="838200" y="1825625"/>
            <a:ext cx="8305800" cy="4351338"/>
          </a:xfrm>
          <a:prstGeom prst="rect">
            <a:avLst/>
          </a:prstGeom>
        </p:spPr>
      </p:pic>
    </p:spTree>
    <p:extLst>
      <p:ext uri="{BB962C8B-B14F-4D97-AF65-F5344CB8AC3E}">
        <p14:creationId xmlns:p14="http://schemas.microsoft.com/office/powerpoint/2010/main" val="117329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4EC78-D812-4571-BA8B-DC41ACA71893}"/>
              </a:ext>
            </a:extLst>
          </p:cNvPr>
          <p:cNvSpPr>
            <a:spLocks noGrp="1"/>
          </p:cNvSpPr>
          <p:nvPr>
            <p:ph type="title"/>
          </p:nvPr>
        </p:nvSpPr>
        <p:spPr>
          <a:xfrm>
            <a:off x="655320" y="243205"/>
            <a:ext cx="10515600" cy="1325563"/>
          </a:xfrm>
        </p:spPr>
        <p:txBody>
          <a:bodyPr>
            <a:normAutofit fontScale="90000"/>
          </a:bodyPr>
          <a:lstStyle/>
          <a:p>
            <a:r>
              <a:rPr lang="en-US" sz="3600" dirty="0">
                <a:solidFill>
                  <a:srgbClr val="002060"/>
                </a:solidFill>
              </a:rPr>
              <a:t>Confusion Matrix </a:t>
            </a:r>
            <a:r>
              <a:rPr lang="en-US" dirty="0"/>
              <a:t>:- </a:t>
            </a:r>
            <a:r>
              <a:rPr lang="en-US" sz="3100" dirty="0"/>
              <a:t>It used to evaluate predictions TP, TN, FP, FN</a:t>
            </a:r>
            <a:br>
              <a:rPr lang="en-US" sz="3100" dirty="0"/>
            </a:br>
            <a:endParaRPr lang="en-US" sz="3100" dirty="0"/>
          </a:p>
        </p:txBody>
      </p:sp>
      <p:sp>
        <p:nvSpPr>
          <p:cNvPr id="3" name="Text Placeholder 2">
            <a:extLst>
              <a:ext uri="{FF2B5EF4-FFF2-40B4-BE49-F238E27FC236}">
                <a16:creationId xmlns:a16="http://schemas.microsoft.com/office/drawing/2014/main" id="{2AC7B719-A052-4F33-A006-9A7C30D322FB}"/>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9FBF5AF4-9BED-4440-8821-BC2FB9419F9D}"/>
              </a:ext>
            </a:extLst>
          </p:cNvPr>
          <p:cNvPicPr>
            <a:picLocks noChangeAspect="1"/>
          </p:cNvPicPr>
          <p:nvPr/>
        </p:nvPicPr>
        <p:blipFill>
          <a:blip r:embed="rId2"/>
          <a:stretch>
            <a:fillRect/>
          </a:stretch>
        </p:blipFill>
        <p:spPr>
          <a:xfrm>
            <a:off x="838200" y="1825624"/>
            <a:ext cx="7067054" cy="4351337"/>
          </a:xfrm>
          <a:prstGeom prst="rect">
            <a:avLst/>
          </a:prstGeom>
        </p:spPr>
      </p:pic>
    </p:spTree>
    <p:extLst>
      <p:ext uri="{BB962C8B-B14F-4D97-AF65-F5344CB8AC3E}">
        <p14:creationId xmlns:p14="http://schemas.microsoft.com/office/powerpoint/2010/main" val="1987110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39379-7851-4E1C-8690-B3AED091AD6D}"/>
              </a:ext>
            </a:extLst>
          </p:cNvPr>
          <p:cNvSpPr>
            <a:spLocks noGrp="1"/>
          </p:cNvSpPr>
          <p:nvPr>
            <p:ph type="title"/>
          </p:nvPr>
        </p:nvSpPr>
        <p:spPr/>
        <p:txBody>
          <a:bodyPr/>
          <a:lstStyle/>
          <a:p>
            <a:r>
              <a:rPr lang="en-US" dirty="0"/>
              <a:t> </a:t>
            </a:r>
            <a:r>
              <a:rPr lang="en-US" dirty="0">
                <a:solidFill>
                  <a:srgbClr val="002060"/>
                </a:solidFill>
              </a:rPr>
              <a:t>Conclusion</a:t>
            </a:r>
          </a:p>
        </p:txBody>
      </p:sp>
      <p:sp>
        <p:nvSpPr>
          <p:cNvPr id="3" name="Text Placeholder 2">
            <a:extLst>
              <a:ext uri="{FF2B5EF4-FFF2-40B4-BE49-F238E27FC236}">
                <a16:creationId xmlns:a16="http://schemas.microsoft.com/office/drawing/2014/main" id="{6C91A12E-2586-4ED2-AAD9-163894B06734}"/>
              </a:ext>
            </a:extLst>
          </p:cNvPr>
          <p:cNvSpPr>
            <a:spLocks noGrp="1"/>
          </p:cNvSpPr>
          <p:nvPr>
            <p:ph type="body" idx="1"/>
          </p:nvPr>
        </p:nvSpPr>
        <p:spPr/>
        <p:txBody>
          <a:bodyPr/>
          <a:lstStyle/>
          <a:p>
            <a:pPr marL="114300" indent="0">
              <a:buNone/>
            </a:pPr>
            <a:r>
              <a:rPr lang="en-US" sz="2000" i="1" dirty="0"/>
              <a:t>We developed a Heart Disease Detection System using classification algorithms, including Logistic Regression, K-Nearest Neighbors (KNN), Decision Tree, Random Forest, and Support Vector Machine (SVM), to predict the presence of heart disease from patient medical data. The project involved data loading, data exploration, data cleaning, exploratory data analysis (EDA), feature selection, feature scaling, and model training, followed by evaluation using performance metrics such as Accuracy, Precision, Recall, F1-Score, Confusion Matrix, Classification Report, and ROC Curve. </a:t>
            </a:r>
          </a:p>
          <a:p>
            <a:pPr marL="114300" indent="0">
              <a:buNone/>
            </a:pPr>
            <a:r>
              <a:rPr lang="en-US" sz="2000" dirty="0"/>
              <a:t> Overall, this project demonstrates a complete end-to-end machine learning workflow and       highlights the potential of AI-based decision support systems for assisting healthcare professionals in the early detection of heart disease.</a:t>
            </a:r>
          </a:p>
          <a:p>
            <a:endParaRPr lang="en-US" dirty="0"/>
          </a:p>
        </p:txBody>
      </p:sp>
    </p:spTree>
    <p:extLst>
      <p:ext uri="{BB962C8B-B14F-4D97-AF65-F5344CB8AC3E}">
        <p14:creationId xmlns:p14="http://schemas.microsoft.com/office/powerpoint/2010/main" val="2417136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p:nvPr/>
        </p:nvSpPr>
        <p:spPr>
          <a:xfrm>
            <a:off x="785347" y="1360714"/>
            <a:ext cx="10385100" cy="2954615"/>
          </a:xfrm>
          <a:prstGeom prst="rect">
            <a:avLst/>
          </a:prstGeom>
          <a:noFill/>
          <a:ln>
            <a:noFill/>
          </a:ln>
        </p:spPr>
        <p:txBody>
          <a:bodyPr spcFirstLastPara="1" wrap="square" lIns="91425" tIns="45700" rIns="91425" bIns="45700" anchor="t" anchorCtr="0">
            <a:spAutoFit/>
          </a:bodyPr>
          <a:lstStyle/>
          <a:p>
            <a:pPr algn="ctr"/>
            <a:br>
              <a:rPr lang="en-IN" sz="8000" dirty="0">
                <a:solidFill>
                  <a:srgbClr val="2F5496"/>
                </a:solidFill>
                <a:latin typeface="Times New Roman"/>
                <a:ea typeface="Times New Roman"/>
                <a:cs typeface="Times New Roman"/>
                <a:sym typeface="Times New Roman"/>
              </a:rPr>
            </a:br>
            <a:r>
              <a:rPr lang="en-IN" sz="4800" dirty="0">
                <a:solidFill>
                  <a:schemeClr val="dk1"/>
                </a:solidFill>
                <a:latin typeface="Times New Roman"/>
                <a:ea typeface="Times New Roman"/>
                <a:cs typeface="Times New Roman"/>
                <a:sym typeface="Times New Roman"/>
              </a:rPr>
              <a:t>THANK YOU !</a:t>
            </a:r>
          </a:p>
          <a:p>
            <a:pPr marL="0" marR="0" lvl="0" indent="0" algn="ctr" rtl="0">
              <a:spcBef>
                <a:spcPts val="0"/>
              </a:spcBef>
              <a:spcAft>
                <a:spcPts val="0"/>
              </a:spcAft>
              <a:buNone/>
            </a:pPr>
            <a:endParaRPr sz="40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71" name="Google Shape;171;p14"/>
          <p:cNvPicPr preferRelativeResize="0"/>
          <p:nvPr/>
        </p:nvPicPr>
        <p:blipFill rotWithShape="1">
          <a:blip r:embed="rId3">
            <a:alphaModFix/>
          </a:blip>
          <a:srcRect/>
          <a:stretch/>
        </p:blipFill>
        <p:spPr>
          <a:xfrm>
            <a:off x="10232571" y="304800"/>
            <a:ext cx="1578429" cy="10559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1009</Words>
  <Application>Microsoft Office PowerPoint</Application>
  <PresentationFormat>Widescreen</PresentationFormat>
  <Paragraphs>166</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Anta</vt:lpstr>
      <vt:lpstr>Arial</vt:lpstr>
      <vt:lpstr>Arial Unicode MS</vt:lpstr>
      <vt:lpstr>Calibri</vt:lpstr>
      <vt:lpstr>Times New Roman</vt:lpstr>
      <vt:lpstr>Wingdings</vt:lpstr>
      <vt:lpstr>Office Theme</vt:lpstr>
      <vt:lpstr>     Capstone Project 1 Heart Disease Detection using classification Algorithm   </vt:lpstr>
      <vt:lpstr>PowerPoint Presentation</vt:lpstr>
      <vt:lpstr>PowerPoint Presentation</vt:lpstr>
      <vt:lpstr>Overview of the project</vt:lpstr>
      <vt:lpstr>PowerPoint Presentation</vt:lpstr>
      <vt:lpstr>PowerPoint Presentation</vt:lpstr>
      <vt:lpstr>PowerPoint Presentation</vt:lpstr>
      <vt:lpstr>PowerPoint Presentation</vt:lpstr>
      <vt:lpstr>PowerPoint Presentation</vt:lpstr>
      <vt:lpstr>PowerPoint Presentation</vt:lpstr>
      <vt:lpstr>ROC Curve : - classification model performance evaluation </vt:lpstr>
      <vt:lpstr>Confusion Matrix :- It used to evaluate predictions TP, TN, FP, FN </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1 Heart Disease Detection using classification Algorithm</dc:title>
  <dc:creator>TNS INDIA FOUNDATION</dc:creator>
  <cp:lastModifiedBy>YASH S. HARNE</cp:lastModifiedBy>
  <cp:revision>4</cp:revision>
  <dcterms:created xsi:type="dcterms:W3CDTF">2025-09-02T04:26:51Z</dcterms:created>
  <dcterms:modified xsi:type="dcterms:W3CDTF">2026-06-26T15:11:08Z</dcterms:modified>
</cp:coreProperties>
</file>